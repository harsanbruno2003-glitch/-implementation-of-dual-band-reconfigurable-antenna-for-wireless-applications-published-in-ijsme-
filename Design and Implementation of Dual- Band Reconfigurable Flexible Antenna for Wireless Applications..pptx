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4" r:id="rId1"/>
  </p:sldMasterIdLst>
  <p:notesMasterIdLst>
    <p:notesMasterId r:id="rId19"/>
  </p:notesMasterIdLst>
  <p:sldIdLst>
    <p:sldId id="256" r:id="rId2"/>
    <p:sldId id="258" r:id="rId3"/>
    <p:sldId id="259" r:id="rId4"/>
    <p:sldId id="293" r:id="rId5"/>
    <p:sldId id="294" r:id="rId6"/>
    <p:sldId id="295" r:id="rId7"/>
    <p:sldId id="260" r:id="rId8"/>
    <p:sldId id="296" r:id="rId9"/>
    <p:sldId id="264" r:id="rId10"/>
    <p:sldId id="265" r:id="rId11"/>
    <p:sldId id="275" r:id="rId12"/>
    <p:sldId id="285" r:id="rId13"/>
    <p:sldId id="288" r:id="rId14"/>
    <p:sldId id="289" r:id="rId15"/>
    <p:sldId id="290" r:id="rId16"/>
    <p:sldId id="291" r:id="rId17"/>
    <p:sldId id="292" r:id="rId18"/>
  </p:sldIdLst>
  <p:sldSz cx="12192000" cy="6858000"/>
  <p:notesSz cx="6858000" cy="9144000"/>
  <p:embeddedFontLst>
    <p:embeddedFont>
      <p:font typeface="Calibri" panose="020F0502020204030204" pitchFamily="34" charset="0"/>
      <p:regular r:id="rId20"/>
      <p:bold r:id="rId21"/>
      <p:italic r:id="rId22"/>
      <p:boldItalic r:id="rId23"/>
    </p:embeddedFont>
    <p:embeddedFont>
      <p:font typeface="Roboto" panose="02000000000000000000" pitchFamily="2" charset="0"/>
      <p:regular r:id="rId24"/>
      <p:bold r:id="rId25"/>
      <p:italic r:id="rId26"/>
      <p:boldItalic r:id="rId27"/>
    </p:embeddedFont>
    <p:embeddedFont>
      <p:font typeface="Times" panose="02020603050405020304" pitchFamily="18" charset="0"/>
      <p:regular r:id="rId28"/>
      <p:bold r:id="rId29"/>
      <p:italic r:id="rId30"/>
      <p:boldItalic r:id="rId3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6" roundtripDataSignature="AMtx7mg5+k3J9sbqAUGtmK5jFalDssRwb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D2B4ED5-B26C-40F2-B0BB-BFAF48773EA5}">
  <a:tblStyle styleId="{6D2B4ED5-B26C-40F2-B0BB-BFAF48773EA5}"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BF5"/>
          </a:solidFill>
        </a:fill>
      </a:tcStyle>
    </a:wholeTbl>
    <a:band1H>
      <a:tcTxStyle b="off" i="off"/>
      <a:tcStyle>
        <a:tcBdr/>
        <a:fill>
          <a:solidFill>
            <a:srgbClr val="CDD4EA"/>
          </a:solidFill>
        </a:fill>
      </a:tcStyle>
    </a:band1H>
    <a:band2H>
      <a:tcTxStyle b="off" i="off"/>
      <a:tcStyle>
        <a:tcBdr/>
      </a:tcStyle>
    </a:band2H>
    <a:band1V>
      <a:tcTxStyle b="off" i="off"/>
      <a:tcStyle>
        <a:tcBdr/>
        <a:fill>
          <a:solidFill>
            <a:srgbClr val="CDD4EA"/>
          </a:solidFill>
        </a:fill>
      </a:tcStyle>
    </a:band1V>
    <a:band2V>
      <a:tcTxStyle b="off" i="off"/>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b="off" i="off"/>
      <a:tcStyle>
        <a:tcBdr/>
      </a:tcStyle>
    </a:seCell>
    <a:swCell>
      <a:tcTxStyle b="off" i="off"/>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b="off" i="off"/>
      <a:tcStyle>
        <a:tcBdr/>
      </a:tcStyle>
    </a:neCell>
    <a:nwCell>
      <a:tcTxStyle b="off" i="off"/>
      <a:tcStyle>
        <a:tcBdr/>
      </a:tcStyle>
    </a:nwCell>
  </a:tblStyle>
  <a:tblStyle styleId="{E907E40C-9BEA-4CA7-B434-B1FF4E3609D8}" styleName="Table_1">
    <a:wholeTbl>
      <a:tcTxStyle b="off" i="off">
        <a:font>
          <a:latin typeface="Calibri"/>
          <a:ea typeface="Calibri"/>
          <a:cs typeface="Calibri"/>
        </a:font>
        <a:srgbClr val="000000"/>
      </a:tcTxStyle>
      <a:tcStyle>
        <a:tcBdr>
          <a:left>
            <a:ln w="12700" cap="flat" cmpd="sng">
              <a:solidFill>
                <a:srgbClr val="FFFFFF"/>
              </a:solidFill>
              <a:prstDash val="solid"/>
              <a:round/>
              <a:headEnd type="none" w="sm" len="sm"/>
              <a:tailEnd type="none" w="sm" len="sm"/>
            </a:ln>
          </a:left>
          <a:right>
            <a:ln w="12700" cap="flat" cmpd="sng">
              <a:solidFill>
                <a:srgbClr val="FFFFFF"/>
              </a:solidFill>
              <a:prstDash val="solid"/>
              <a:round/>
              <a:headEnd type="none" w="sm" len="sm"/>
              <a:tailEnd type="none" w="sm" len="sm"/>
            </a:ln>
          </a:right>
          <a:top>
            <a:ln w="12700" cap="flat" cmpd="sng">
              <a:solidFill>
                <a:srgbClr val="FFFFFF"/>
              </a:solidFill>
              <a:prstDash val="solid"/>
              <a:round/>
              <a:headEnd type="none" w="sm" len="sm"/>
              <a:tailEnd type="none" w="sm" len="sm"/>
            </a:ln>
          </a:top>
          <a:bottom>
            <a:ln w="12700" cap="flat" cmpd="sng">
              <a:solidFill>
                <a:srgbClr val="FFFFFF"/>
              </a:solidFill>
              <a:prstDash val="solid"/>
              <a:round/>
              <a:headEnd type="none" w="sm" len="sm"/>
              <a:tailEnd type="none" w="sm" len="sm"/>
            </a:ln>
          </a:bottom>
          <a:insideH>
            <a:ln w="12700" cap="flat" cmpd="sng">
              <a:solidFill>
                <a:srgbClr val="FFFFFF"/>
              </a:solidFill>
              <a:prstDash val="solid"/>
              <a:round/>
              <a:headEnd type="none" w="sm" len="sm"/>
              <a:tailEnd type="none" w="sm" len="sm"/>
            </a:ln>
          </a:insideH>
          <a:insideV>
            <a:ln w="12700" cap="flat" cmpd="sng">
              <a:solidFill>
                <a:srgbClr val="FFFFFF"/>
              </a:solidFill>
              <a:prstDash val="solid"/>
              <a:round/>
              <a:headEnd type="none" w="sm" len="sm"/>
              <a:tailEnd type="none" w="sm" len="sm"/>
            </a:ln>
          </a:insideV>
        </a:tcBdr>
        <a:fill>
          <a:solidFill>
            <a:srgbClr val="E8EBF5"/>
          </a:solidFill>
        </a:fill>
      </a:tcStyle>
    </a:wholeTbl>
    <a:band1H>
      <a:tcTxStyle b="off" i="off"/>
      <a:tcStyle>
        <a:tcBdr/>
        <a:fill>
          <a:solidFill>
            <a:srgbClr val="CDD4EA"/>
          </a:solidFill>
        </a:fill>
      </a:tcStyle>
    </a:band1H>
    <a:band2H>
      <a:tcTxStyle b="off" i="off"/>
      <a:tcStyle>
        <a:tcBdr/>
      </a:tcStyle>
    </a:band2H>
    <a:band1V>
      <a:tcTxStyle b="off" i="off"/>
      <a:tcStyle>
        <a:tcBdr/>
        <a:fill>
          <a:solidFill>
            <a:srgbClr val="CDD4EA"/>
          </a:solidFill>
        </a:fill>
      </a:tcStyle>
    </a:band1V>
    <a:band2V>
      <a:tcTxStyle b="off" i="off"/>
      <a:tcStyle>
        <a:tcBdr/>
      </a:tcStyle>
    </a:band2V>
    <a:lastCol>
      <a:tcTxStyle b="on" i="off">
        <a:font>
          <a:latin typeface="Calibri"/>
          <a:ea typeface="Calibri"/>
          <a:cs typeface="Calibri"/>
        </a:font>
        <a:srgbClr val="FFFFFF"/>
      </a:tcTxStyle>
      <a:tcStyle>
        <a:tcBdr/>
        <a:fill>
          <a:solidFill>
            <a:srgbClr val="4472C4"/>
          </a:solidFill>
        </a:fill>
      </a:tcStyle>
    </a:lastCol>
    <a:firstCol>
      <a:tcTxStyle b="on" i="off">
        <a:font>
          <a:latin typeface="Calibri"/>
          <a:ea typeface="Calibri"/>
          <a:cs typeface="Calibri"/>
        </a:font>
        <a:srgbClr val="FFFFFF"/>
      </a:tcTxStyle>
      <a:tcStyle>
        <a:tcBdr/>
        <a:fill>
          <a:solidFill>
            <a:srgbClr val="4472C4"/>
          </a:solidFill>
        </a:fill>
      </a:tcStyle>
    </a:firstCol>
    <a:lastRow>
      <a:tcTxStyle b="on" i="off">
        <a:font>
          <a:latin typeface="Calibri"/>
          <a:ea typeface="Calibri"/>
          <a:cs typeface="Calibri"/>
        </a:font>
        <a:srgbClr val="FFFFFF"/>
      </a:tcTxStyle>
      <a:tcStyle>
        <a:tcBdr>
          <a:top>
            <a:ln w="38100" cap="flat" cmpd="sng">
              <a:solidFill>
                <a:srgbClr val="FFFFFF"/>
              </a:solidFill>
              <a:prstDash val="solid"/>
              <a:round/>
              <a:headEnd type="none" w="sm" len="sm"/>
              <a:tailEnd type="none" w="sm" len="sm"/>
            </a:ln>
          </a:top>
        </a:tcBdr>
        <a:fill>
          <a:solidFill>
            <a:srgbClr val="4472C4"/>
          </a:solidFill>
        </a:fill>
      </a:tcStyle>
    </a:lastRow>
    <a:seCell>
      <a:tcTxStyle b="off" i="off"/>
      <a:tcStyle>
        <a:tcBdr/>
      </a:tcStyle>
    </a:seCell>
    <a:swCell>
      <a:tcTxStyle b="off" i="off"/>
      <a:tcStyle>
        <a:tcBdr/>
      </a:tcStyle>
    </a:swCell>
    <a:firstRow>
      <a:tcTxStyle b="on" i="off">
        <a:font>
          <a:latin typeface="Calibri"/>
          <a:ea typeface="Calibri"/>
          <a:cs typeface="Calibri"/>
        </a:font>
        <a:srgbClr val="FFFFFF"/>
      </a:tcTxStyle>
      <a:tcStyle>
        <a:tcBdr>
          <a:bottom>
            <a:ln w="38100" cap="flat" cmpd="sng">
              <a:solidFill>
                <a:srgbClr val="FFFFFF"/>
              </a:solidFill>
              <a:prstDash val="solid"/>
              <a:round/>
              <a:headEnd type="none" w="sm" len="sm"/>
              <a:tailEnd type="none" w="sm" len="sm"/>
            </a:ln>
          </a:bottom>
        </a:tcBdr>
        <a:fill>
          <a:solidFill>
            <a:srgbClr val="4472C4"/>
          </a:solidFill>
        </a:fill>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206" autoAdjust="0"/>
  </p:normalViewPr>
  <p:slideViewPr>
    <p:cSldViewPr snapToGrid="0">
      <p:cViewPr varScale="1">
        <p:scale>
          <a:sx n="59" d="100"/>
          <a:sy n="59" d="100"/>
        </p:scale>
        <p:origin x="940" y="5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59"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58"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font" Target="fonts/font9.fntdata"/><Relationship Id="rId57"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notesMaster" Target="notesMasters/notesMaster1.xml"/><Relationship Id="rId31" Type="http://schemas.openxmlformats.org/officeDocument/2006/relationships/font" Target="fonts/font12.fntdata"/><Relationship Id="rId6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font" Target="fonts/font11.fntdata"/><Relationship Id="rId56" Type="http://customschemas.google.com/relationships/presentationmetadata" Target="metadata"/><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pPr marL="0" marR="0" lvl="0" indent="0" algn="r" rtl="0">
                <a:lnSpc>
                  <a:spcPct val="100000"/>
                </a:lnSpc>
                <a:spcBef>
                  <a:spcPts val="0"/>
                </a:spcBef>
                <a:spcAft>
                  <a:spcPts val="0"/>
                </a:spcAft>
                <a:buClr>
                  <a:srgbClr val="000000"/>
                </a:buClr>
                <a:buSzPts val="1200"/>
                <a:buFont typeface="Arial"/>
                <a:buNone/>
              </a:pPr>
              <a:t>‹#›</a:t>
            </a:fld>
            <a:endParaRPr sz="1200" b="0" i="0" u="none" strike="noStrike" cap="none">
              <a:solidFill>
                <a:schemeClr val="dk1"/>
              </a:solidFill>
              <a:latin typeface="Calibri"/>
              <a:ea typeface="Calibri"/>
              <a:cs typeface="Calibri"/>
              <a:sym typeface="Calibri"/>
            </a:endParaRPr>
          </a:p>
        </p:txBody>
      </p:sp>
      <p:sp>
        <p:nvSpPr>
          <p:cNvPr id="8" name="Google Shape;8;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0" name="Google Shape;110;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11" name="Google Shape;111;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pPr marL="0" lvl="0" indent="0" algn="r" rtl="0">
                <a:lnSpc>
                  <a:spcPct val="100000"/>
                </a:lnSpc>
                <a:spcBef>
                  <a:spcPts val="0"/>
                </a:spcBef>
                <a:spcAft>
                  <a:spcPts val="0"/>
                </a:spcAft>
                <a:buSzPts val="1400"/>
                <a:buNone/>
              </a:pPr>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5" name="Google Shape;125;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6" name="Google Shape;126;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pPr marL="0" lvl="0" indent="0" algn="r" rtl="0">
                <a:lnSpc>
                  <a:spcPct val="100000"/>
                </a:lnSpc>
                <a:spcBef>
                  <a:spcPts val="0"/>
                </a:spcBef>
                <a:spcAft>
                  <a:spcPts val="0"/>
                </a:spcAft>
                <a:buSzPts val="1400"/>
                <a:buNone/>
              </a:pPr>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2" name="Google Shape;132;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20c39108249_1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8" name="Google Shape;138;g20c39108249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9" name="Google Shape;139;g20c39108249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pPr marL="0" lvl="0" indent="0" algn="r" rtl="0">
                <a:lnSpc>
                  <a:spcPct val="100000"/>
                </a:lnSpc>
                <a:spcBef>
                  <a:spcPts val="0"/>
                </a:spcBef>
                <a:spcAft>
                  <a:spcPts val="0"/>
                </a:spcAft>
                <a:buClr>
                  <a:srgbClr val="000000"/>
                </a:buClr>
                <a:buSzPts val="1200"/>
                <a:buFont typeface="Arial"/>
                <a:buNone/>
              </a:pPr>
              <a:t>7</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20c39108249_1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8" name="Google Shape;138;g20c39108249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9" name="Google Shape;139;g20c39108249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pPr marL="0" lvl="0" indent="0" algn="r" rtl="0">
                <a:lnSpc>
                  <a:spcPct val="100000"/>
                </a:lnSpc>
                <a:spcBef>
                  <a:spcPts val="0"/>
                </a:spcBef>
                <a:spcAft>
                  <a:spcPts val="0"/>
                </a:spcAft>
                <a:buClr>
                  <a:srgbClr val="000000"/>
                </a:buClr>
                <a:buSzPts val="1200"/>
                <a:buFont typeface="Arial"/>
                <a:buNone/>
              </a:pPr>
              <a:t>8</a:t>
            </a:fld>
            <a:endParaRPr/>
          </a:p>
        </p:txBody>
      </p:sp>
    </p:spTree>
    <p:extLst>
      <p:ext uri="{BB962C8B-B14F-4D97-AF65-F5344CB8AC3E}">
        <p14:creationId xmlns:p14="http://schemas.microsoft.com/office/powerpoint/2010/main" val="20229612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3" name="Google Shape;163;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2097b5e3b7f_0_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8" name="Google Shape;168;g2097b5e3b7f_0_3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69" name="Google Shape;169;g2097b5e3b7f_0_3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pPr marL="0" lvl="0" indent="0" algn="r" rtl="0">
                <a:lnSpc>
                  <a:spcPct val="100000"/>
                </a:lnSpc>
                <a:spcBef>
                  <a:spcPts val="0"/>
                </a:spcBef>
                <a:spcAft>
                  <a:spcPts val="0"/>
                </a:spcAft>
                <a:buClr>
                  <a:srgbClr val="000000"/>
                </a:buClr>
                <a:buSzPts val="1200"/>
                <a:buFont typeface="Arial"/>
                <a:buNone/>
              </a:pPr>
              <a:t>10</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0" name="Google Shape;240;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1" name="Google Shape;301;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p:cNvGrpSpPr/>
        <p:nvPr/>
      </p:nvGrpSpPr>
      <p:grpSpPr>
        <a:xfrm>
          <a:off x="0" y="0"/>
          <a:ext cx="0" cy="0"/>
          <a:chOff x="0" y="0"/>
          <a:chExt cx="0" cy="0"/>
        </a:xfrm>
      </p:grpSpPr>
      <p:sp>
        <p:nvSpPr>
          <p:cNvPr id="318" name="Google Shape;318;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9" name="Google Shape;319;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p:cNvGrpSpPr/>
        <p:nvPr/>
      </p:nvGrpSpPr>
      <p:grpSpPr>
        <a:xfrm>
          <a:off x="0" y="0"/>
          <a:ext cx="0" cy="0"/>
          <a:chOff x="0" y="0"/>
          <a:chExt cx="0" cy="0"/>
        </a:xfrm>
      </p:grpSpPr>
      <p:sp>
        <p:nvSpPr>
          <p:cNvPr id="324" name="Google Shape;324;g1f297761b71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5" name="Google Shape;325;g1f297761b71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9"/>
        <p:cNvGrpSpPr/>
        <p:nvPr/>
      </p:nvGrpSpPr>
      <p:grpSpPr>
        <a:xfrm>
          <a:off x="0" y="0"/>
          <a:ext cx="0" cy="0"/>
          <a:chOff x="0" y="0"/>
          <a:chExt cx="0" cy="0"/>
        </a:xfrm>
      </p:grpSpPr>
      <p:sp>
        <p:nvSpPr>
          <p:cNvPr id="330" name="Google Shape;330;g20fdf25b392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31" name="Google Shape;331;g20fdf25b392_0_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5"/>
        <p:cNvGrpSpPr/>
        <p:nvPr/>
      </p:nvGrpSpPr>
      <p:grpSpPr>
        <a:xfrm>
          <a:off x="0" y="0"/>
          <a:ext cx="0" cy="0"/>
          <a:chOff x="0" y="0"/>
          <a:chExt cx="0" cy="0"/>
        </a:xfrm>
      </p:grpSpPr>
      <p:sp>
        <p:nvSpPr>
          <p:cNvPr id="336" name="Google Shape;336;p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37" name="Google Shape;337;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g21b5992c3e0_0_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2" name="Google Shape;342;g21b5992c3e0_0_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IN"/>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a:t>
            </a:fld>
            <a:endParaRPr lang="en-US"/>
          </a:p>
        </p:txBody>
      </p:sp>
    </p:spTree>
  </p:cSld>
  <p:clrMap bg1="lt1" tx1="dk1" bg2="lt2" tx2="dk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Lst>
  <p:transition spd="slow">
    <p:fade/>
  </p:transition>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ieeexplore.ieee.org/author/37085363946" TargetMode="External"/><Relationship Id="rId2" Type="http://schemas.openxmlformats.org/officeDocument/2006/relationships/hyperlink" Target="https://ieeexplore.ieee.org/author/37085428608" TargetMode="External"/><Relationship Id="rId1" Type="http://schemas.openxmlformats.org/officeDocument/2006/relationships/slideLayout" Target="../slideLayouts/slideLayout2.xml"/><Relationship Id="rId5" Type="http://schemas.openxmlformats.org/officeDocument/2006/relationships/hyperlink" Target="https://ieeexplore.ieee.org/author/37536937000" TargetMode="External"/><Relationship Id="rId4" Type="http://schemas.openxmlformats.org/officeDocument/2006/relationships/hyperlink" Target="https://ieeexplore.ieee.org/author/37086560518"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ieeexplore.ieee.org/author/38469149400" TargetMode="External"/><Relationship Id="rId2" Type="http://schemas.openxmlformats.org/officeDocument/2006/relationships/hyperlink" Target="https://ieeexplore.ieee.org/author/37089377850"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1"/>
          <p:cNvSpPr txBox="1">
            <a:spLocks noGrp="1"/>
          </p:cNvSpPr>
          <p:nvPr>
            <p:ph type="ctrTitle"/>
          </p:nvPr>
        </p:nvSpPr>
        <p:spPr>
          <a:xfrm>
            <a:off x="346675" y="1122375"/>
            <a:ext cx="11545500" cy="1488900"/>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Clr>
                <a:srgbClr val="002060"/>
              </a:buClr>
              <a:buSzPts val="1800"/>
              <a:buFont typeface="Arial"/>
              <a:buNone/>
            </a:pPr>
            <a:r>
              <a:rPr lang="en-US" sz="5100" b="1" dirty="0">
                <a:latin typeface="Times"/>
                <a:ea typeface="Times"/>
                <a:cs typeface="Times"/>
                <a:sym typeface="Times"/>
              </a:rPr>
              <a:t>Design and Implementation of Dual- Band Reconfigurable Flexible Antenna for Wireless Applications.</a:t>
            </a:r>
            <a:endParaRPr sz="7200" b="1" dirty="0">
              <a:latin typeface="Times"/>
              <a:ea typeface="Times"/>
              <a:cs typeface="Times"/>
              <a:sym typeface="Time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2"/>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Times New Roman"/>
              <a:buNone/>
            </a:pPr>
            <a:r>
              <a:rPr lang="en-US" b="1" dirty="0">
                <a:latin typeface="Times New Roman"/>
                <a:ea typeface="Times New Roman"/>
                <a:cs typeface="Times New Roman"/>
                <a:sym typeface="Times New Roman"/>
              </a:rPr>
              <a:t>OBJECTIVES</a:t>
            </a:r>
            <a:endParaRPr b="1" dirty="0">
              <a:latin typeface="Times New Roman"/>
              <a:ea typeface="Times New Roman"/>
              <a:cs typeface="Times New Roman"/>
              <a:sym typeface="Times New Roman"/>
            </a:endParaRPr>
          </a:p>
        </p:txBody>
      </p:sp>
      <p:sp>
        <p:nvSpPr>
          <p:cNvPr id="129" name="Google Shape;129;p2"/>
          <p:cNvSpPr txBox="1">
            <a:spLocks noGrp="1"/>
          </p:cNvSpPr>
          <p:nvPr>
            <p:ph idx="1"/>
          </p:nvPr>
        </p:nvSpPr>
        <p:spPr>
          <a:prstGeom prst="rect">
            <a:avLst/>
          </a:prstGeom>
          <a:noFill/>
          <a:ln>
            <a:noFill/>
          </a:ln>
        </p:spPr>
        <p:txBody>
          <a:bodyPr spcFirstLastPara="1" wrap="square" lIns="91425" tIns="45700" rIns="91425" bIns="45700" anchor="t" anchorCtr="0">
            <a:normAutofit fontScale="47500" lnSpcReduction="20000"/>
          </a:bodyPr>
          <a:lstStyle/>
          <a:p>
            <a:pPr marL="457200" lvl="0" indent="-365424" algn="just" rtl="0">
              <a:lnSpc>
                <a:spcPct val="100000"/>
              </a:lnSpc>
              <a:spcBef>
                <a:spcPts val="1000"/>
              </a:spcBef>
              <a:spcAft>
                <a:spcPts val="0"/>
              </a:spcAft>
              <a:buSzPct val="100000"/>
              <a:buFont typeface="Times"/>
              <a:buChar char="➢"/>
            </a:pPr>
            <a:r>
              <a:rPr lang="en-US" sz="4535">
                <a:latin typeface="Times"/>
                <a:ea typeface="Times"/>
                <a:cs typeface="Times"/>
                <a:sym typeface="Times"/>
              </a:rPr>
              <a:t>MIMO OFDM is a fast and efficient method of transmission of the data which suits the modern world demand. The entire process of data transfer involves a lot of small steps like IFFT and encoding. </a:t>
            </a:r>
            <a:endParaRPr sz="4535">
              <a:latin typeface="Times"/>
              <a:ea typeface="Times"/>
              <a:cs typeface="Times"/>
              <a:sym typeface="Times"/>
            </a:endParaRPr>
          </a:p>
          <a:p>
            <a:pPr marL="457200" lvl="0" indent="-365424" algn="just" rtl="0">
              <a:lnSpc>
                <a:spcPct val="100000"/>
              </a:lnSpc>
              <a:spcBef>
                <a:spcPts val="1000"/>
              </a:spcBef>
              <a:spcAft>
                <a:spcPts val="0"/>
              </a:spcAft>
              <a:buSzPct val="100000"/>
              <a:buFont typeface="Times"/>
              <a:buChar char="➢"/>
            </a:pPr>
            <a:r>
              <a:rPr lang="en-US" sz="4535">
                <a:latin typeface="Times"/>
                <a:ea typeface="Times"/>
                <a:cs typeface="Times"/>
                <a:sym typeface="Times"/>
              </a:rPr>
              <a:t>A user is not always aware that what he should send and what he should not send. </a:t>
            </a:r>
            <a:endParaRPr sz="4535">
              <a:latin typeface="Times"/>
              <a:ea typeface="Times"/>
              <a:cs typeface="Times"/>
              <a:sym typeface="Times"/>
            </a:endParaRPr>
          </a:p>
          <a:p>
            <a:pPr marL="457200" lvl="0" indent="-365424" algn="just" rtl="0">
              <a:lnSpc>
                <a:spcPct val="100000"/>
              </a:lnSpc>
              <a:spcBef>
                <a:spcPts val="1000"/>
              </a:spcBef>
              <a:spcAft>
                <a:spcPts val="0"/>
              </a:spcAft>
              <a:buSzPct val="100000"/>
              <a:buFont typeface="Times"/>
              <a:buChar char="➢"/>
            </a:pPr>
            <a:r>
              <a:rPr lang="en-US" sz="4535">
                <a:latin typeface="Times"/>
                <a:ea typeface="Times"/>
                <a:cs typeface="Times"/>
                <a:sym typeface="Times"/>
              </a:rPr>
              <a:t>The MIMO OFDM does not analyze the data architecture and puts it into transfer process. The proposed algorithm optimizes the process of data transfer and utilizes the channel well. </a:t>
            </a:r>
            <a:endParaRPr sz="4535">
              <a:latin typeface="Times"/>
              <a:ea typeface="Times"/>
              <a:cs typeface="Times"/>
              <a:sym typeface="Times"/>
            </a:endParaRPr>
          </a:p>
          <a:p>
            <a:pPr marL="457200" lvl="0" indent="-365424" algn="just" rtl="0">
              <a:lnSpc>
                <a:spcPct val="100000"/>
              </a:lnSpc>
              <a:spcBef>
                <a:spcPts val="1000"/>
              </a:spcBef>
              <a:spcAft>
                <a:spcPts val="0"/>
              </a:spcAft>
              <a:buSzPct val="100000"/>
              <a:buFont typeface="Times"/>
              <a:buChar char="➢"/>
            </a:pPr>
            <a:r>
              <a:rPr lang="en-US" sz="4535">
                <a:latin typeface="Times"/>
                <a:ea typeface="Times"/>
                <a:cs typeface="Times"/>
                <a:sym typeface="Times"/>
              </a:rPr>
              <a:t>The proposed algorithm has been tested with three types of modulation techniques and two types of optimization techniques. The proposed algorithm has also used EBG to finally evaluate the optimized data through OFDM and MIMO. </a:t>
            </a:r>
            <a:endParaRPr sz="4535">
              <a:latin typeface="Times"/>
              <a:ea typeface="Times"/>
              <a:cs typeface="Times"/>
              <a:sym typeface="Times"/>
            </a:endParaRPr>
          </a:p>
          <a:p>
            <a:pPr marL="457200" lvl="0" indent="-365423" algn="just" rtl="0">
              <a:lnSpc>
                <a:spcPct val="100000"/>
              </a:lnSpc>
              <a:spcBef>
                <a:spcPts val="1000"/>
              </a:spcBef>
              <a:spcAft>
                <a:spcPts val="0"/>
              </a:spcAft>
              <a:buSzPct val="100000"/>
              <a:buFont typeface="Times"/>
              <a:buChar char="➢"/>
            </a:pPr>
            <a:r>
              <a:rPr lang="en-US" sz="4535">
                <a:latin typeface="Times"/>
                <a:ea typeface="Times"/>
                <a:cs typeface="Times"/>
                <a:sym typeface="Times"/>
              </a:rPr>
              <a:t>The results section compares the bit error rate and mean square error under two situations, with and without proposed algorithm. The analysis of the results shows that the proposed algorithm has put a significant impact in decreasing both MSE and BER.</a:t>
            </a:r>
            <a:endParaRPr sz="4535">
              <a:latin typeface="Times"/>
              <a:ea typeface="Times"/>
              <a:cs typeface="Times"/>
              <a:sym typeface="Times"/>
            </a:endParaRPr>
          </a:p>
          <a:p>
            <a:pPr marL="0" lvl="0" indent="0" algn="just" rtl="0">
              <a:lnSpc>
                <a:spcPct val="100000"/>
              </a:lnSpc>
              <a:spcBef>
                <a:spcPts val="1000"/>
              </a:spcBef>
              <a:spcAft>
                <a:spcPts val="0"/>
              </a:spcAft>
              <a:buClr>
                <a:srgbClr val="0F253E"/>
              </a:buClr>
              <a:buSzPct val="48387"/>
              <a:buNone/>
            </a:pPr>
            <a:endParaRPr sz="3100">
              <a:latin typeface="Times"/>
              <a:ea typeface="Times"/>
              <a:cs typeface="Times"/>
              <a:sym typeface="Time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3"/>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Times New Roman"/>
              <a:buNone/>
            </a:pPr>
            <a:r>
              <a:rPr lang="en-US" b="1">
                <a:latin typeface="Times New Roman"/>
                <a:ea typeface="Times New Roman"/>
                <a:cs typeface="Times New Roman"/>
                <a:sym typeface="Times New Roman"/>
              </a:rPr>
              <a:t>Motivation</a:t>
            </a:r>
            <a:endParaRPr b="1">
              <a:latin typeface="Times New Roman"/>
              <a:ea typeface="Times New Roman"/>
              <a:cs typeface="Times New Roman"/>
              <a:sym typeface="Times New Roman"/>
            </a:endParaRPr>
          </a:p>
        </p:txBody>
      </p:sp>
      <p:sp>
        <p:nvSpPr>
          <p:cNvPr id="135" name="Google Shape;135;p3"/>
          <p:cNvSpPr txBox="1">
            <a:spLocks noGrp="1"/>
          </p:cNvSpPr>
          <p:nvPr>
            <p:ph idx="1"/>
          </p:nvPr>
        </p:nvSpPr>
        <p:spPr>
          <a:prstGeom prst="rect">
            <a:avLst/>
          </a:prstGeom>
          <a:noFill/>
          <a:ln>
            <a:noFill/>
          </a:ln>
        </p:spPr>
        <p:txBody>
          <a:bodyPr spcFirstLastPara="1" wrap="square" lIns="91425" tIns="45700" rIns="91425" bIns="45700" anchor="t" anchorCtr="0">
            <a:normAutofit fontScale="25000" lnSpcReduction="20000"/>
          </a:bodyPr>
          <a:lstStyle/>
          <a:p>
            <a:pPr marL="0" lvl="0" indent="0" algn="l" rtl="0">
              <a:lnSpc>
                <a:spcPct val="115000"/>
              </a:lnSpc>
              <a:spcBef>
                <a:spcPts val="0"/>
              </a:spcBef>
              <a:spcAft>
                <a:spcPts val="0"/>
              </a:spcAft>
              <a:buSzPct val="171428"/>
              <a:buNone/>
            </a:pPr>
            <a:endParaRPr sz="1050">
              <a:latin typeface="Roboto"/>
              <a:ea typeface="Roboto"/>
              <a:cs typeface="Roboto"/>
              <a:sym typeface="Roboto"/>
            </a:endParaRPr>
          </a:p>
          <a:p>
            <a:pPr marL="457200" lvl="0" indent="-371382" algn="just" rtl="0">
              <a:lnSpc>
                <a:spcPct val="100000"/>
              </a:lnSpc>
              <a:spcBef>
                <a:spcPts val="0"/>
              </a:spcBef>
              <a:spcAft>
                <a:spcPts val="0"/>
              </a:spcAft>
              <a:buSzPct val="100000"/>
              <a:buFont typeface="Times"/>
              <a:buChar char="➢"/>
            </a:pPr>
            <a:r>
              <a:rPr lang="en-US" sz="8994">
                <a:latin typeface="Times"/>
                <a:ea typeface="Times"/>
                <a:cs typeface="Times"/>
                <a:sym typeface="Times"/>
              </a:rPr>
              <a:t>Estimates the characteristics of the communication channel between the transmitter and the receiver. </a:t>
            </a:r>
            <a:endParaRPr sz="8994">
              <a:latin typeface="Times"/>
              <a:ea typeface="Times"/>
              <a:cs typeface="Times"/>
              <a:sym typeface="Times"/>
            </a:endParaRPr>
          </a:p>
          <a:p>
            <a:pPr marL="457200" lvl="0" indent="-371382" algn="just" rtl="0">
              <a:lnSpc>
                <a:spcPct val="100000"/>
              </a:lnSpc>
              <a:spcBef>
                <a:spcPts val="0"/>
              </a:spcBef>
              <a:spcAft>
                <a:spcPts val="0"/>
              </a:spcAft>
              <a:buSzPct val="100000"/>
              <a:buFont typeface="Times"/>
              <a:buChar char="➢"/>
            </a:pPr>
            <a:r>
              <a:rPr lang="en-US" sz="8994">
                <a:latin typeface="Times"/>
                <a:ea typeface="Times"/>
                <a:cs typeface="Times"/>
                <a:sym typeface="Times"/>
              </a:rPr>
              <a:t>The wireless channel can be affected by various factors such as:</a:t>
            </a:r>
            <a:endParaRPr sz="8994">
              <a:latin typeface="Times"/>
              <a:ea typeface="Times"/>
              <a:cs typeface="Times"/>
              <a:sym typeface="Times"/>
            </a:endParaRPr>
          </a:p>
          <a:p>
            <a:pPr marL="914400" lvl="1" indent="-371382" algn="just" rtl="0">
              <a:lnSpc>
                <a:spcPct val="100000"/>
              </a:lnSpc>
              <a:spcBef>
                <a:spcPts val="0"/>
              </a:spcBef>
              <a:spcAft>
                <a:spcPts val="0"/>
              </a:spcAft>
              <a:buSzPct val="100000"/>
              <a:buFont typeface="Times"/>
              <a:buChar char="○"/>
            </a:pPr>
            <a:r>
              <a:rPr lang="en-US" sz="8994">
                <a:latin typeface="Times"/>
                <a:ea typeface="Times"/>
                <a:cs typeface="Times"/>
                <a:sym typeface="Times"/>
              </a:rPr>
              <a:t> Fading</a:t>
            </a:r>
            <a:endParaRPr sz="8994">
              <a:latin typeface="Times"/>
              <a:ea typeface="Times"/>
              <a:cs typeface="Times"/>
              <a:sym typeface="Times"/>
            </a:endParaRPr>
          </a:p>
          <a:p>
            <a:pPr marL="914400" lvl="1" indent="-371382" algn="just" rtl="0">
              <a:lnSpc>
                <a:spcPct val="100000"/>
              </a:lnSpc>
              <a:spcBef>
                <a:spcPts val="0"/>
              </a:spcBef>
              <a:spcAft>
                <a:spcPts val="0"/>
              </a:spcAft>
              <a:buSzPct val="100000"/>
              <a:buFont typeface="Times"/>
              <a:buChar char="○"/>
            </a:pPr>
            <a:r>
              <a:rPr lang="en-US" sz="8994">
                <a:latin typeface="Times"/>
                <a:ea typeface="Times"/>
                <a:cs typeface="Times"/>
                <a:sym typeface="Times"/>
              </a:rPr>
              <a:t> Interference</a:t>
            </a:r>
            <a:endParaRPr sz="8994">
              <a:latin typeface="Times"/>
              <a:ea typeface="Times"/>
              <a:cs typeface="Times"/>
              <a:sym typeface="Times"/>
            </a:endParaRPr>
          </a:p>
          <a:p>
            <a:pPr marL="914400" lvl="1" indent="-371382" algn="just" rtl="0">
              <a:lnSpc>
                <a:spcPct val="100000"/>
              </a:lnSpc>
              <a:spcBef>
                <a:spcPts val="0"/>
              </a:spcBef>
              <a:spcAft>
                <a:spcPts val="0"/>
              </a:spcAft>
              <a:buSzPct val="100000"/>
              <a:buFont typeface="Times"/>
              <a:buChar char="○"/>
            </a:pPr>
            <a:r>
              <a:rPr lang="en-US" sz="8994">
                <a:latin typeface="Times"/>
                <a:ea typeface="Times"/>
                <a:cs typeface="Times"/>
                <a:sym typeface="Times"/>
              </a:rPr>
              <a:t> Noise </a:t>
            </a:r>
            <a:endParaRPr sz="8994">
              <a:latin typeface="Times"/>
              <a:ea typeface="Times"/>
              <a:cs typeface="Times"/>
              <a:sym typeface="Times"/>
            </a:endParaRPr>
          </a:p>
          <a:p>
            <a:pPr marL="0" lvl="0" indent="0" algn="just" rtl="0">
              <a:lnSpc>
                <a:spcPct val="100000"/>
              </a:lnSpc>
              <a:spcBef>
                <a:spcPts val="1500"/>
              </a:spcBef>
              <a:spcAft>
                <a:spcPts val="0"/>
              </a:spcAft>
              <a:buSzPts val="450"/>
              <a:buNone/>
            </a:pPr>
            <a:r>
              <a:rPr lang="en-US" sz="8994">
                <a:latin typeface="Times"/>
                <a:ea typeface="Times"/>
                <a:cs typeface="Times"/>
                <a:sym typeface="Times"/>
              </a:rPr>
              <a:t> which can degrade the quality of the signal received by the receiver.</a:t>
            </a:r>
            <a:endParaRPr sz="8994">
              <a:latin typeface="Times"/>
              <a:ea typeface="Times"/>
              <a:cs typeface="Times"/>
              <a:sym typeface="Times"/>
            </a:endParaRPr>
          </a:p>
          <a:p>
            <a:pPr marL="457200" lvl="0" indent="-371382" algn="just" rtl="0">
              <a:lnSpc>
                <a:spcPct val="100000"/>
              </a:lnSpc>
              <a:spcBef>
                <a:spcPts val="1500"/>
              </a:spcBef>
              <a:spcAft>
                <a:spcPts val="0"/>
              </a:spcAft>
              <a:buSzPct val="100000"/>
              <a:buFont typeface="Times"/>
              <a:buChar char="➢"/>
            </a:pPr>
            <a:r>
              <a:rPr lang="en-US" sz="8994">
                <a:latin typeface="Times"/>
                <a:ea typeface="Times"/>
                <a:cs typeface="Times"/>
                <a:sym typeface="Times"/>
              </a:rPr>
              <a:t>In order to overcome the effects of these factors and improve the quality of the received signal, it is necessary to estimate the characteristics of the channel. </a:t>
            </a:r>
            <a:endParaRPr sz="8994">
              <a:latin typeface="Times"/>
              <a:ea typeface="Times"/>
              <a:cs typeface="Times"/>
              <a:sym typeface="Times"/>
            </a:endParaRPr>
          </a:p>
          <a:p>
            <a:pPr marL="457200" lvl="0" indent="-371382" algn="just" rtl="0">
              <a:lnSpc>
                <a:spcPct val="100000"/>
              </a:lnSpc>
              <a:spcBef>
                <a:spcPts val="1500"/>
              </a:spcBef>
              <a:spcAft>
                <a:spcPts val="0"/>
              </a:spcAft>
              <a:buSzPct val="100000"/>
              <a:buFont typeface="Times"/>
              <a:buChar char="➢"/>
            </a:pPr>
            <a:r>
              <a:rPr lang="en-US" sz="8994">
                <a:latin typeface="Times"/>
                <a:ea typeface="Times"/>
                <a:cs typeface="Times"/>
                <a:sym typeface="Times"/>
              </a:rPr>
              <a:t>Orthogonal Frequency Division Multiplexing (OFDM) was designed in order to increase the data transfer rate in a channel while using EBG. Furthermore to cope up with the demand of the user, Multiple Inputs Multiple Output (MIMO) concepts were introduced to it .</a:t>
            </a:r>
            <a:endParaRPr sz="8994">
              <a:latin typeface="Times"/>
              <a:ea typeface="Times"/>
              <a:cs typeface="Times"/>
              <a:sym typeface="Times"/>
            </a:endParaRPr>
          </a:p>
          <a:p>
            <a:pPr marL="2743200" lvl="0" indent="0" algn="l" rtl="0">
              <a:lnSpc>
                <a:spcPct val="90000"/>
              </a:lnSpc>
              <a:spcBef>
                <a:spcPts val="1500"/>
              </a:spcBef>
              <a:spcAft>
                <a:spcPts val="0"/>
              </a:spcAft>
              <a:buSzPct val="64285"/>
              <a:buNone/>
            </a:pPr>
            <a:endParaRPr>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582594"/>
          </a:xfrm>
        </p:spPr>
        <p:txBody>
          <a:bodyPr>
            <a:normAutofit/>
          </a:bodyPr>
          <a:lstStyle/>
          <a:p>
            <a:r>
              <a:rPr lang="en-US" sz="3200" b="1" dirty="0">
                <a:latin typeface="Times New Roman" pitchFamily="18" charset="0"/>
                <a:cs typeface="Times New Roman" pitchFamily="18" charset="0"/>
              </a:rPr>
              <a:t>LITERATURE SURVEY</a:t>
            </a:r>
            <a:endParaRPr lang="en-IN" sz="3200" b="1" dirty="0">
              <a:latin typeface="Times New Roman" pitchFamily="18" charset="0"/>
              <a:cs typeface="Times New Roman" pitchFamily="18" charset="0"/>
            </a:endParaRPr>
          </a:p>
        </p:txBody>
      </p:sp>
      <p:graphicFrame>
        <p:nvGraphicFramePr>
          <p:cNvPr id="7" name="Content Placeholder 6"/>
          <p:cNvGraphicFramePr>
            <a:graphicFrameLocks noGrp="1"/>
          </p:cNvGraphicFramePr>
          <p:nvPr>
            <p:ph idx="1"/>
          </p:nvPr>
        </p:nvGraphicFramePr>
        <p:xfrm>
          <a:off x="609600" y="857232"/>
          <a:ext cx="10972800" cy="5765759"/>
        </p:xfrm>
        <a:graphic>
          <a:graphicData uri="http://schemas.openxmlformats.org/drawingml/2006/table">
            <a:tbl>
              <a:tblPr firstRow="1" bandRow="1">
                <a:tableStyleId>{5C22544A-7EE6-4342-B048-85BDC9FD1C3A}</a:tableStyleId>
              </a:tblPr>
              <a:tblGrid>
                <a:gridCol w="2438379">
                  <a:extLst>
                    <a:ext uri="{9D8B030D-6E8A-4147-A177-3AD203B41FA5}">
                      <a16:colId xmlns:a16="http://schemas.microsoft.com/office/drawing/2014/main" val="20000"/>
                    </a:ext>
                  </a:extLst>
                </a:gridCol>
                <a:gridCol w="2762269">
                  <a:extLst>
                    <a:ext uri="{9D8B030D-6E8A-4147-A177-3AD203B41FA5}">
                      <a16:colId xmlns:a16="http://schemas.microsoft.com/office/drawing/2014/main" val="20001"/>
                    </a:ext>
                  </a:extLst>
                </a:gridCol>
                <a:gridCol w="2762269">
                  <a:extLst>
                    <a:ext uri="{9D8B030D-6E8A-4147-A177-3AD203B41FA5}">
                      <a16:colId xmlns:a16="http://schemas.microsoft.com/office/drawing/2014/main" val="20002"/>
                    </a:ext>
                  </a:extLst>
                </a:gridCol>
                <a:gridCol w="3009883">
                  <a:extLst>
                    <a:ext uri="{9D8B030D-6E8A-4147-A177-3AD203B41FA5}">
                      <a16:colId xmlns:a16="http://schemas.microsoft.com/office/drawing/2014/main" val="20003"/>
                    </a:ext>
                  </a:extLst>
                </a:gridCol>
              </a:tblGrid>
              <a:tr h="684383">
                <a:tc>
                  <a:txBody>
                    <a:bodyPr/>
                    <a:lstStyle/>
                    <a:p>
                      <a:r>
                        <a:rPr lang="en-US" dirty="0"/>
                        <a:t>     </a:t>
                      </a:r>
                    </a:p>
                    <a:p>
                      <a:r>
                        <a:rPr lang="en-US" dirty="0"/>
                        <a:t>       AUTHOR</a:t>
                      </a:r>
                      <a:endParaRPr lang="en-IN" dirty="0"/>
                    </a:p>
                  </a:txBody>
                  <a:tcPr marL="121920" marR="121920"/>
                </a:tc>
                <a:tc>
                  <a:txBody>
                    <a:bodyPr/>
                    <a:lstStyle/>
                    <a:p>
                      <a:r>
                        <a:rPr lang="en-US" dirty="0"/>
                        <a:t> </a:t>
                      </a:r>
                    </a:p>
                    <a:p>
                      <a:r>
                        <a:rPr lang="en-US" dirty="0"/>
                        <a:t>         PAPER</a:t>
                      </a:r>
                      <a:endParaRPr lang="en-IN" dirty="0"/>
                    </a:p>
                  </a:txBody>
                  <a:tcPr marL="121920" marR="121920"/>
                </a:tc>
                <a:tc>
                  <a:txBody>
                    <a:bodyPr/>
                    <a:lstStyle/>
                    <a:p>
                      <a:endParaRPr lang="en-US" dirty="0"/>
                    </a:p>
                    <a:p>
                      <a:r>
                        <a:rPr lang="en-US" dirty="0"/>
                        <a:t>   INFERENCE</a:t>
                      </a:r>
                      <a:endParaRPr lang="en-IN" dirty="0"/>
                    </a:p>
                  </a:txBody>
                  <a:tcPr marL="121920" marR="121920"/>
                </a:tc>
                <a:tc>
                  <a:txBody>
                    <a:bodyPr/>
                    <a:lstStyle/>
                    <a:p>
                      <a:endParaRPr lang="en-US" dirty="0"/>
                    </a:p>
                    <a:p>
                      <a:r>
                        <a:rPr lang="en-US" dirty="0"/>
                        <a:t>PROBLEM IDENTIFIED</a:t>
                      </a:r>
                      <a:endParaRPr lang="en-IN" dirty="0"/>
                    </a:p>
                  </a:txBody>
                  <a:tcPr marL="121920" marR="121920"/>
                </a:tc>
                <a:extLst>
                  <a:ext uri="{0D108BD9-81ED-4DB2-BD59-A6C34878D82A}">
                    <a16:rowId xmlns:a16="http://schemas.microsoft.com/office/drawing/2014/main" val="10000"/>
                  </a:ext>
                </a:extLst>
              </a:tr>
              <a:tr h="2530328">
                <a:tc>
                  <a:txBody>
                    <a:bodyPr/>
                    <a:lstStyle/>
                    <a:p>
                      <a:r>
                        <a:rPr lang="en-IN" sz="1800" b="0" i="0" u="none" strike="noStrike" kern="1200" dirty="0" err="1">
                          <a:solidFill>
                            <a:schemeClr val="dk1"/>
                          </a:solidFill>
                          <a:latin typeface="Times New Roman" pitchFamily="18" charset="0"/>
                          <a:ea typeface="+mn-ea"/>
                          <a:cs typeface="Times New Roman" pitchFamily="18" charset="0"/>
                          <a:hlinkClick r:id="rId2"/>
                        </a:rPr>
                        <a:t>Sai</a:t>
                      </a:r>
                      <a:r>
                        <a:rPr lang="en-IN" sz="1800" b="0" i="0" u="none" strike="noStrike" kern="1200" dirty="0">
                          <a:solidFill>
                            <a:schemeClr val="dk1"/>
                          </a:solidFill>
                          <a:latin typeface="Times New Roman" pitchFamily="18" charset="0"/>
                          <a:ea typeface="+mn-ea"/>
                          <a:cs typeface="Times New Roman" pitchFamily="18" charset="0"/>
                          <a:hlinkClick r:id="rId2"/>
                        </a:rPr>
                        <a:t> Huang</a:t>
                      </a:r>
                      <a:r>
                        <a:rPr lang="en-IN" sz="1800" b="0" i="0" kern="1200" dirty="0">
                          <a:solidFill>
                            <a:schemeClr val="dk1"/>
                          </a:solidFill>
                          <a:latin typeface="Times New Roman" pitchFamily="18" charset="0"/>
                          <a:ea typeface="+mn-ea"/>
                          <a:cs typeface="Times New Roman" pitchFamily="18" charset="0"/>
                        </a:rPr>
                        <a:t>; </a:t>
                      </a:r>
                      <a:r>
                        <a:rPr lang="en-IN" sz="1800" b="0" i="0" u="none" strike="noStrike" kern="1200" dirty="0" err="1">
                          <a:solidFill>
                            <a:schemeClr val="dk1"/>
                          </a:solidFill>
                          <a:latin typeface="Times New Roman" pitchFamily="18" charset="0"/>
                          <a:ea typeface="+mn-ea"/>
                          <a:cs typeface="Times New Roman" pitchFamily="18" charset="0"/>
                          <a:hlinkClick r:id="rId3"/>
                        </a:rPr>
                        <a:t>Meng</a:t>
                      </a:r>
                      <a:r>
                        <a:rPr lang="en-IN" sz="1800" b="0" i="0" u="none" strike="noStrike" kern="1200" dirty="0">
                          <a:solidFill>
                            <a:schemeClr val="dk1"/>
                          </a:solidFill>
                          <a:latin typeface="Times New Roman" pitchFamily="18" charset="0"/>
                          <a:ea typeface="+mn-ea"/>
                          <a:cs typeface="Times New Roman" pitchFamily="18" charset="0"/>
                          <a:hlinkClick r:id="rId3"/>
                        </a:rPr>
                        <a:t> Zhang</a:t>
                      </a:r>
                      <a:r>
                        <a:rPr lang="en-IN" sz="1800" b="0" i="0" kern="1200" dirty="0">
                          <a:solidFill>
                            <a:schemeClr val="dk1"/>
                          </a:solidFill>
                          <a:latin typeface="Times New Roman" pitchFamily="18" charset="0"/>
                          <a:ea typeface="+mn-ea"/>
                          <a:cs typeface="Times New Roman" pitchFamily="18" charset="0"/>
                        </a:rPr>
                        <a:t>; </a:t>
                      </a:r>
                      <a:r>
                        <a:rPr lang="en-IN" sz="1800" b="0" i="0" u="none" strike="noStrike" kern="1200" dirty="0" err="1">
                          <a:solidFill>
                            <a:schemeClr val="dk1"/>
                          </a:solidFill>
                          <a:latin typeface="Times New Roman" pitchFamily="18" charset="0"/>
                          <a:ea typeface="+mn-ea"/>
                          <a:cs typeface="Times New Roman" pitchFamily="18" charset="0"/>
                          <a:hlinkClick r:id="rId4"/>
                        </a:rPr>
                        <a:t>Yicheng</a:t>
                      </a:r>
                      <a:r>
                        <a:rPr lang="en-IN" sz="1800" b="0" i="0" u="none" strike="noStrike" kern="1200" dirty="0">
                          <a:solidFill>
                            <a:schemeClr val="dk1"/>
                          </a:solidFill>
                          <a:latin typeface="Times New Roman" pitchFamily="18" charset="0"/>
                          <a:ea typeface="+mn-ea"/>
                          <a:cs typeface="Times New Roman" pitchFamily="18" charset="0"/>
                          <a:hlinkClick r:id="rId4"/>
                        </a:rPr>
                        <a:t> </a:t>
                      </a:r>
                      <a:r>
                        <a:rPr lang="en-IN" sz="1800" b="0" i="0" u="none" strike="noStrike" kern="1200" dirty="0" err="1">
                          <a:solidFill>
                            <a:schemeClr val="dk1"/>
                          </a:solidFill>
                          <a:latin typeface="Times New Roman" pitchFamily="18" charset="0"/>
                          <a:ea typeface="+mn-ea"/>
                          <a:cs typeface="Times New Roman" pitchFamily="18" charset="0"/>
                          <a:hlinkClick r:id="rId4"/>
                        </a:rPr>
                        <a:t>Gao</a:t>
                      </a:r>
                      <a:r>
                        <a:rPr lang="en-IN" sz="1800" b="0" i="0" kern="1200" dirty="0">
                          <a:solidFill>
                            <a:schemeClr val="dk1"/>
                          </a:solidFill>
                          <a:latin typeface="Times New Roman" pitchFamily="18" charset="0"/>
                          <a:ea typeface="+mn-ea"/>
                          <a:cs typeface="Times New Roman" pitchFamily="18" charset="0"/>
                        </a:rPr>
                        <a:t>; </a:t>
                      </a:r>
                      <a:r>
                        <a:rPr lang="en-IN" sz="1800" b="0" i="0" u="none" strike="noStrike" kern="1200" dirty="0" err="1">
                          <a:solidFill>
                            <a:schemeClr val="dk1"/>
                          </a:solidFill>
                          <a:latin typeface="Times New Roman" pitchFamily="18" charset="0"/>
                          <a:ea typeface="+mn-ea"/>
                          <a:cs typeface="Times New Roman" pitchFamily="18" charset="0"/>
                          <a:hlinkClick r:id="rId5"/>
                        </a:rPr>
                        <a:t>Zhiyong</a:t>
                      </a:r>
                      <a:r>
                        <a:rPr lang="en-IN" sz="1800" b="0" i="0" u="none" strike="noStrike" kern="1200" dirty="0">
                          <a:solidFill>
                            <a:schemeClr val="dk1"/>
                          </a:solidFill>
                          <a:latin typeface="Times New Roman" pitchFamily="18" charset="0"/>
                          <a:ea typeface="+mn-ea"/>
                          <a:cs typeface="Times New Roman" pitchFamily="18" charset="0"/>
                          <a:hlinkClick r:id="rId5"/>
                        </a:rPr>
                        <a:t> </a:t>
                      </a:r>
                      <a:r>
                        <a:rPr lang="en-IN" sz="1800" b="0" i="0" u="none" strike="noStrike" kern="1200" dirty="0" err="1">
                          <a:solidFill>
                            <a:schemeClr val="dk1"/>
                          </a:solidFill>
                          <a:latin typeface="Times New Roman" pitchFamily="18" charset="0"/>
                          <a:ea typeface="+mn-ea"/>
                          <a:cs typeface="Times New Roman" pitchFamily="18" charset="0"/>
                          <a:hlinkClick r:id="rId5"/>
                        </a:rPr>
                        <a:t>Feng</a:t>
                      </a:r>
                      <a:endParaRPr lang="en-IN" dirty="0">
                        <a:latin typeface="Times New Roman" pitchFamily="18" charset="0"/>
                        <a:cs typeface="Times New Roman" pitchFamily="18" charset="0"/>
                      </a:endParaRPr>
                    </a:p>
                  </a:txBody>
                  <a:tcPr marL="121920" marR="12192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400" b="1" i="0" kern="1200" dirty="0">
                          <a:solidFill>
                            <a:schemeClr val="dk1"/>
                          </a:solidFill>
                          <a:latin typeface="Times New Roman" pitchFamily="18" charset="0"/>
                          <a:ea typeface="+mn-ea"/>
                          <a:cs typeface="Times New Roman" pitchFamily="18" charset="0"/>
                        </a:rPr>
                        <a:t>MIMO Radar Aided </a:t>
                      </a:r>
                      <a:r>
                        <a:rPr lang="en-IN" sz="1400" b="1" i="0" kern="1200" dirty="0" err="1">
                          <a:solidFill>
                            <a:schemeClr val="dk1"/>
                          </a:solidFill>
                          <a:latin typeface="Times New Roman" pitchFamily="18" charset="0"/>
                          <a:ea typeface="+mn-ea"/>
                          <a:cs typeface="Times New Roman" pitchFamily="18" charset="0"/>
                        </a:rPr>
                        <a:t>mmWave</a:t>
                      </a:r>
                      <a:r>
                        <a:rPr lang="en-IN" sz="1400" b="1" i="0" kern="1200" dirty="0">
                          <a:solidFill>
                            <a:schemeClr val="dk1"/>
                          </a:solidFill>
                          <a:latin typeface="Times New Roman" pitchFamily="18" charset="0"/>
                          <a:ea typeface="+mn-ea"/>
                          <a:cs typeface="Times New Roman" pitchFamily="18" charset="0"/>
                        </a:rPr>
                        <a:t> Time-Varying Channel Estimation in MU-MIMO V2X Communications</a:t>
                      </a:r>
                    </a:p>
                    <a:p>
                      <a:endParaRPr lang="en-IN" dirty="0">
                        <a:latin typeface="Times New Roman" pitchFamily="18" charset="0"/>
                        <a:cs typeface="Times New Roman" pitchFamily="18" charset="0"/>
                      </a:endParaRPr>
                    </a:p>
                  </a:txBody>
                  <a:tcPr marL="121920" marR="121920"/>
                </a:tc>
                <a:tc>
                  <a:txBody>
                    <a:bodyPr/>
                    <a:lstStyle/>
                    <a:p>
                      <a:r>
                        <a:rPr lang="en-IN" sz="1400" b="0" i="0" kern="1200" dirty="0">
                          <a:solidFill>
                            <a:schemeClr val="dk1"/>
                          </a:solidFill>
                          <a:latin typeface="Times New Roman" pitchFamily="18" charset="0"/>
                          <a:ea typeface="+mn-ea"/>
                          <a:cs typeface="Times New Roman" pitchFamily="18" charset="0"/>
                        </a:rPr>
                        <a:t>In this paper, we propose a MIMO radar aided channel estimation scheme using deep learning (DL) for the uplink </a:t>
                      </a:r>
                      <a:r>
                        <a:rPr lang="en-IN" sz="1400" b="0" i="0" kern="1200" dirty="0" err="1">
                          <a:solidFill>
                            <a:schemeClr val="dk1"/>
                          </a:solidFill>
                          <a:latin typeface="Times New Roman" pitchFamily="18" charset="0"/>
                          <a:ea typeface="+mn-ea"/>
                          <a:cs typeface="Times New Roman" pitchFamily="18" charset="0"/>
                        </a:rPr>
                        <a:t>mmWave</a:t>
                      </a:r>
                      <a:r>
                        <a:rPr lang="en-IN" sz="1400" b="0" i="0" kern="1200" dirty="0">
                          <a:solidFill>
                            <a:schemeClr val="dk1"/>
                          </a:solidFill>
                          <a:latin typeface="Times New Roman" pitchFamily="18" charset="0"/>
                          <a:ea typeface="+mn-ea"/>
                          <a:cs typeface="Times New Roman" pitchFamily="18" charset="0"/>
                        </a:rPr>
                        <a:t> multiuser (MU)-MIMO communications.</a:t>
                      </a:r>
                      <a:r>
                        <a:rPr lang="en-IN" sz="1800" b="0" i="0" kern="1200" dirty="0">
                          <a:solidFill>
                            <a:schemeClr val="dk1"/>
                          </a:solidFill>
                          <a:latin typeface="Times New Roman" pitchFamily="18" charset="0"/>
                          <a:ea typeface="+mn-ea"/>
                          <a:cs typeface="Times New Roman" pitchFamily="18" charset="0"/>
                        </a:rPr>
                        <a:t> </a:t>
                      </a:r>
                      <a:endParaRPr lang="en-IN" dirty="0">
                        <a:latin typeface="Times New Roman" pitchFamily="18" charset="0"/>
                        <a:cs typeface="Times New Roman" pitchFamily="18" charset="0"/>
                      </a:endParaRPr>
                    </a:p>
                  </a:txBody>
                  <a:tcPr marL="121920" marR="121920"/>
                </a:tc>
                <a:tc>
                  <a:txBody>
                    <a:bodyPr/>
                    <a:lstStyle/>
                    <a:p>
                      <a:r>
                        <a:rPr lang="en-IN" sz="1400" b="0" i="0" kern="1200" dirty="0">
                          <a:solidFill>
                            <a:schemeClr val="dk1"/>
                          </a:solidFill>
                          <a:latin typeface="Times New Roman" pitchFamily="18" charset="0"/>
                          <a:ea typeface="+mn-ea"/>
                          <a:cs typeface="Times New Roman" pitchFamily="18" charset="0"/>
                        </a:rPr>
                        <a:t>Robust channel estimation in time-varying channels is used to guarantee the quality of communication services, especially for Vehicle-to-Everything (V2X) scenarios. To improve the channel estimation accuracy and reduce the pilot overhead,</a:t>
                      </a:r>
                      <a:endParaRPr lang="en-IN" sz="1400" dirty="0">
                        <a:latin typeface="Times New Roman" pitchFamily="18" charset="0"/>
                        <a:cs typeface="Times New Roman" pitchFamily="18" charset="0"/>
                      </a:endParaRPr>
                    </a:p>
                  </a:txBody>
                  <a:tcPr marL="121920" marR="121920"/>
                </a:tc>
                <a:extLst>
                  <a:ext uri="{0D108BD9-81ED-4DB2-BD59-A6C34878D82A}">
                    <a16:rowId xmlns:a16="http://schemas.microsoft.com/office/drawing/2014/main" val="10001"/>
                  </a:ext>
                </a:extLst>
              </a:tr>
              <a:tr h="2551048">
                <a:tc>
                  <a:txBody>
                    <a:bodyPr/>
                    <a:lstStyle/>
                    <a:p>
                      <a:r>
                        <a:rPr lang="en-IN" sz="1400" dirty="0" err="1">
                          <a:latin typeface="Times New Roman" pitchFamily="18" charset="0"/>
                          <a:cs typeface="Times New Roman" pitchFamily="18" charset="0"/>
                        </a:rPr>
                        <a:t>Myung</a:t>
                      </a:r>
                      <a:r>
                        <a:rPr lang="en-IN" sz="1400" dirty="0">
                          <a:latin typeface="Times New Roman" pitchFamily="18" charset="0"/>
                          <a:cs typeface="Times New Roman" pitchFamily="18" charset="0"/>
                        </a:rPr>
                        <a:t>-Sun </a:t>
                      </a:r>
                      <a:r>
                        <a:rPr lang="en-IN" sz="1400" dirty="0" err="1">
                          <a:latin typeface="Times New Roman" pitchFamily="18" charset="0"/>
                          <a:cs typeface="Times New Roman" pitchFamily="18" charset="0"/>
                        </a:rPr>
                        <a:t>Baek</a:t>
                      </a:r>
                      <a:r>
                        <a:rPr lang="en-IN" sz="1400" dirty="0">
                          <a:latin typeface="Times New Roman" pitchFamily="18" charset="0"/>
                          <a:cs typeface="Times New Roman" pitchFamily="18" charset="0"/>
                        </a:rPr>
                        <a:t> , Member, IEEE, </a:t>
                      </a:r>
                      <a:r>
                        <a:rPr lang="en-IN" sz="1400" dirty="0" err="1">
                          <a:latin typeface="Times New Roman" pitchFamily="18" charset="0"/>
                          <a:cs typeface="Times New Roman" pitchFamily="18" charset="0"/>
                        </a:rPr>
                        <a:t>Sangwoon</a:t>
                      </a:r>
                      <a:r>
                        <a:rPr lang="en-IN" sz="1400" dirty="0">
                          <a:latin typeface="Times New Roman" pitchFamily="18" charset="0"/>
                          <a:cs typeface="Times New Roman" pitchFamily="18" charset="0"/>
                        </a:rPr>
                        <a:t> </a:t>
                      </a:r>
                      <a:r>
                        <a:rPr lang="en-IN" sz="1400" dirty="0" err="1">
                          <a:latin typeface="Times New Roman" pitchFamily="18" charset="0"/>
                          <a:cs typeface="Times New Roman" pitchFamily="18" charset="0"/>
                        </a:rPr>
                        <a:t>Kwak</a:t>
                      </a:r>
                      <a:r>
                        <a:rPr lang="en-IN" sz="1400" dirty="0">
                          <a:latin typeface="Times New Roman" pitchFamily="18" charset="0"/>
                          <a:cs typeface="Times New Roman" pitchFamily="18" charset="0"/>
                        </a:rPr>
                        <a:t>, </a:t>
                      </a:r>
                      <a:r>
                        <a:rPr lang="en-IN" sz="1400" dirty="0" err="1">
                          <a:latin typeface="Times New Roman" pitchFamily="18" charset="0"/>
                          <a:cs typeface="Times New Roman" pitchFamily="18" charset="0"/>
                        </a:rPr>
                        <a:t>Joon</a:t>
                      </a:r>
                      <a:r>
                        <a:rPr lang="en-IN" sz="1400" dirty="0">
                          <a:latin typeface="Times New Roman" pitchFamily="18" charset="0"/>
                          <a:cs typeface="Times New Roman" pitchFamily="18" charset="0"/>
                        </a:rPr>
                        <a:t>-Young Jung , Member, IEEE, Heung </a:t>
                      </a:r>
                      <a:r>
                        <a:rPr lang="en-IN" sz="1400" dirty="0" err="1">
                          <a:latin typeface="Times New Roman" pitchFamily="18" charset="0"/>
                          <a:cs typeface="Times New Roman" pitchFamily="18" charset="0"/>
                        </a:rPr>
                        <a:t>Mook</a:t>
                      </a:r>
                      <a:r>
                        <a:rPr lang="en-IN" sz="1400" dirty="0">
                          <a:latin typeface="Times New Roman" pitchFamily="18" charset="0"/>
                          <a:cs typeface="Times New Roman" pitchFamily="18" charset="0"/>
                        </a:rPr>
                        <a:t> Kim, Member, IEEE, and Dong-</a:t>
                      </a:r>
                      <a:r>
                        <a:rPr lang="en-IN" sz="1400" dirty="0" err="1">
                          <a:latin typeface="Times New Roman" pitchFamily="18" charset="0"/>
                          <a:cs typeface="Times New Roman" pitchFamily="18" charset="0"/>
                        </a:rPr>
                        <a:t>Joon</a:t>
                      </a:r>
                      <a:r>
                        <a:rPr lang="en-IN" sz="1400" dirty="0">
                          <a:latin typeface="Times New Roman" pitchFamily="18" charset="0"/>
                          <a:cs typeface="Times New Roman" pitchFamily="18" charset="0"/>
                        </a:rPr>
                        <a:t> </a:t>
                      </a:r>
                      <a:r>
                        <a:rPr lang="en-IN" sz="1400" dirty="0" err="1">
                          <a:latin typeface="Times New Roman" pitchFamily="18" charset="0"/>
                          <a:cs typeface="Times New Roman" pitchFamily="18" charset="0"/>
                        </a:rPr>
                        <a:t>Choi</a:t>
                      </a:r>
                      <a:r>
                        <a:rPr lang="en-IN" sz="1400" dirty="0">
                          <a:latin typeface="Times New Roman" pitchFamily="18" charset="0"/>
                          <a:cs typeface="Times New Roman" pitchFamily="18" charset="0"/>
                        </a:rPr>
                        <a:t> </a:t>
                      </a:r>
                    </a:p>
                  </a:txBody>
                  <a:tcPr marL="121920" marR="121920"/>
                </a:tc>
                <a:tc>
                  <a:txBody>
                    <a:bodyPr/>
                    <a:lstStyle/>
                    <a:p>
                      <a:r>
                        <a:rPr lang="en-IN" sz="1400" dirty="0">
                          <a:latin typeface="Times New Roman" pitchFamily="18" charset="0"/>
                          <a:cs typeface="Times New Roman" pitchFamily="18" charset="0"/>
                        </a:rPr>
                        <a:t>A Supplementary Explanation for Experimental Environment of “Implementation Methodologies of Deep Learning-Based Signal Detection for Conventional MIMO Transmitters” </a:t>
                      </a:r>
                    </a:p>
                  </a:txBody>
                  <a:tcPr marL="121920" marR="121920"/>
                </a:tc>
                <a:tc>
                  <a:txBody>
                    <a:bodyPr/>
                    <a:lstStyle/>
                    <a:p>
                      <a:r>
                        <a:rPr lang="en-IN" sz="1400" dirty="0">
                          <a:latin typeface="Times New Roman" pitchFamily="18" charset="0"/>
                          <a:cs typeface="Times New Roman" pitchFamily="18" charset="0"/>
                        </a:rPr>
                        <a:t>we proposed candidate implementation methodologies with simple verification experiments. According to this</a:t>
                      </a:r>
                      <a:r>
                        <a:rPr lang="en-IN" sz="1400" baseline="0" dirty="0">
                          <a:latin typeface="Times New Roman" pitchFamily="18" charset="0"/>
                          <a:cs typeface="Times New Roman" pitchFamily="18" charset="0"/>
                        </a:rPr>
                        <a:t> method </a:t>
                      </a:r>
                      <a:r>
                        <a:rPr lang="en-IN" sz="1400" dirty="0">
                          <a:latin typeface="Times New Roman" pitchFamily="18" charset="0"/>
                          <a:cs typeface="Times New Roman" pitchFamily="18" charset="0"/>
                        </a:rPr>
                        <a:t>it was shown that the proposed algorithms can achieve the optimal ML performance</a:t>
                      </a:r>
                    </a:p>
                  </a:txBody>
                  <a:tcPr marL="121920" marR="121920"/>
                </a:tc>
                <a:tc>
                  <a:txBody>
                    <a:bodyPr/>
                    <a:lstStyle/>
                    <a:p>
                      <a:r>
                        <a:rPr lang="en-IN" sz="1400" dirty="0">
                          <a:latin typeface="Times New Roman" pitchFamily="18" charset="0"/>
                          <a:cs typeface="Times New Roman" pitchFamily="18" charset="0"/>
                        </a:rPr>
                        <a:t>The</a:t>
                      </a:r>
                      <a:r>
                        <a:rPr lang="en-IN" sz="1400" baseline="0" dirty="0">
                          <a:latin typeface="Times New Roman" pitchFamily="18" charset="0"/>
                          <a:cs typeface="Times New Roman" pitchFamily="18" charset="0"/>
                        </a:rPr>
                        <a:t> </a:t>
                      </a:r>
                      <a:r>
                        <a:rPr lang="en-IN" sz="1400" dirty="0">
                          <a:latin typeface="Times New Roman" pitchFamily="18" charset="0"/>
                          <a:cs typeface="Times New Roman" pitchFamily="18" charset="0"/>
                        </a:rPr>
                        <a:t>challenges for implementing deep learning-based algorithm in MIMO signal detector such as handling complex number or designing proper neural network for a specific communication system</a:t>
                      </a:r>
                    </a:p>
                  </a:txBody>
                  <a:tcPr marL="121920" marR="121920"/>
                </a:tc>
                <a:extLst>
                  <a:ext uri="{0D108BD9-81ED-4DB2-BD59-A6C34878D82A}">
                    <a16:rowId xmlns:a16="http://schemas.microsoft.com/office/drawing/2014/main" val="10002"/>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nvPr>
        </p:nvGraphicFramePr>
        <p:xfrm>
          <a:off x="609600" y="357165"/>
          <a:ext cx="10972799" cy="6143668"/>
        </p:xfrm>
        <a:graphic>
          <a:graphicData uri="http://schemas.openxmlformats.org/drawingml/2006/table">
            <a:tbl>
              <a:tblPr firstRow="1" bandRow="1">
                <a:tableStyleId>{5C22544A-7EE6-4342-B048-85BDC9FD1C3A}</a:tableStyleId>
              </a:tblPr>
              <a:tblGrid>
                <a:gridCol w="2247877">
                  <a:extLst>
                    <a:ext uri="{9D8B030D-6E8A-4147-A177-3AD203B41FA5}">
                      <a16:colId xmlns:a16="http://schemas.microsoft.com/office/drawing/2014/main" val="20000"/>
                    </a:ext>
                  </a:extLst>
                </a:gridCol>
                <a:gridCol w="2857520">
                  <a:extLst>
                    <a:ext uri="{9D8B030D-6E8A-4147-A177-3AD203B41FA5}">
                      <a16:colId xmlns:a16="http://schemas.microsoft.com/office/drawing/2014/main" val="20001"/>
                    </a:ext>
                  </a:extLst>
                </a:gridCol>
                <a:gridCol w="2762269">
                  <a:extLst>
                    <a:ext uri="{9D8B030D-6E8A-4147-A177-3AD203B41FA5}">
                      <a16:colId xmlns:a16="http://schemas.microsoft.com/office/drawing/2014/main" val="20002"/>
                    </a:ext>
                  </a:extLst>
                </a:gridCol>
                <a:gridCol w="3105133">
                  <a:extLst>
                    <a:ext uri="{9D8B030D-6E8A-4147-A177-3AD203B41FA5}">
                      <a16:colId xmlns:a16="http://schemas.microsoft.com/office/drawing/2014/main" val="20003"/>
                    </a:ext>
                  </a:extLst>
                </a:gridCol>
              </a:tblGrid>
              <a:tr h="854104">
                <a:tc>
                  <a:txBody>
                    <a:bodyPr/>
                    <a:lstStyle/>
                    <a:p>
                      <a:r>
                        <a:rPr lang="en-US" dirty="0"/>
                        <a:t> </a:t>
                      </a:r>
                    </a:p>
                    <a:p>
                      <a:r>
                        <a:rPr lang="en-US" dirty="0"/>
                        <a:t>     AUTHOR</a:t>
                      </a:r>
                      <a:endParaRPr lang="en-IN" dirty="0"/>
                    </a:p>
                  </a:txBody>
                  <a:tcPr marL="121920" marR="121920"/>
                </a:tc>
                <a:tc>
                  <a:txBody>
                    <a:bodyPr/>
                    <a:lstStyle/>
                    <a:p>
                      <a:endParaRPr lang="en-US" dirty="0"/>
                    </a:p>
                    <a:p>
                      <a:r>
                        <a:rPr lang="en-US" dirty="0"/>
                        <a:t>         PAPER</a:t>
                      </a:r>
                      <a:endParaRPr lang="en-IN" dirty="0"/>
                    </a:p>
                  </a:txBody>
                  <a:tcPr marL="121920" marR="121920"/>
                </a:tc>
                <a:tc>
                  <a:txBody>
                    <a:bodyPr/>
                    <a:lstStyle/>
                    <a:p>
                      <a:endParaRPr lang="en-US" dirty="0"/>
                    </a:p>
                    <a:p>
                      <a:r>
                        <a:rPr lang="en-US" dirty="0"/>
                        <a:t>     INFERENCE</a:t>
                      </a:r>
                      <a:endParaRPr lang="en-IN" dirty="0"/>
                    </a:p>
                  </a:txBody>
                  <a:tcPr marL="121920" marR="121920"/>
                </a:tc>
                <a:tc>
                  <a:txBody>
                    <a:bodyPr/>
                    <a:lstStyle/>
                    <a:p>
                      <a:endParaRPr lang="en-US" dirty="0"/>
                    </a:p>
                    <a:p>
                      <a:r>
                        <a:rPr lang="en-US" dirty="0"/>
                        <a:t>PROBLEM IDENTIFIED</a:t>
                      </a:r>
                      <a:endParaRPr lang="en-IN" dirty="0"/>
                    </a:p>
                  </a:txBody>
                  <a:tcPr marL="121920" marR="121920"/>
                </a:tc>
                <a:extLst>
                  <a:ext uri="{0D108BD9-81ED-4DB2-BD59-A6C34878D82A}">
                    <a16:rowId xmlns:a16="http://schemas.microsoft.com/office/drawing/2014/main" val="10000"/>
                  </a:ext>
                </a:extLst>
              </a:tr>
              <a:tr h="2644782">
                <a:tc>
                  <a:txBody>
                    <a:bodyPr/>
                    <a:lstStyle/>
                    <a:p>
                      <a:r>
                        <a:rPr lang="en-IN" sz="1400" dirty="0">
                          <a:latin typeface="Times New Roman" pitchFamily="18" charset="0"/>
                          <a:cs typeface="Times New Roman" pitchFamily="18" charset="0"/>
                        </a:rPr>
                        <a:t>Mingjie  Shao ,  and Wing-Kin Ma , </a:t>
                      </a:r>
                    </a:p>
                  </a:txBody>
                  <a:tcPr marL="121920" marR="121920"/>
                </a:tc>
                <a:tc>
                  <a:txBody>
                    <a:bodyPr/>
                    <a:lstStyle/>
                    <a:p>
                      <a:r>
                        <a:rPr lang="en-IN" sz="1400" dirty="0">
                          <a:latin typeface="Times New Roman" pitchFamily="18" charset="0"/>
                          <a:cs typeface="Times New Roman" pitchFamily="18" charset="0"/>
                        </a:rPr>
                        <a:t>Binary MIMO Detection via Homotopy Optimization and Its Deep Adaptation</a:t>
                      </a:r>
                    </a:p>
                  </a:txBody>
                  <a:tcPr marL="121920" marR="121920"/>
                </a:tc>
                <a:tc>
                  <a:txBody>
                    <a:bodyPr/>
                    <a:lstStyle/>
                    <a:p>
                      <a:r>
                        <a:rPr lang="en-IN" sz="1400" dirty="0">
                          <a:latin typeface="Times New Roman" pitchFamily="18" charset="0"/>
                          <a:cs typeface="Times New Roman" pitchFamily="18" charset="0"/>
                        </a:rPr>
                        <a:t>In this paper we consider maximum-likelihood (ML) MIMO detection under one-bit quantized observations and binary symbol constellations.</a:t>
                      </a:r>
                    </a:p>
                  </a:txBody>
                  <a:tcPr marL="121920" marR="121920"/>
                </a:tc>
                <a:tc>
                  <a:txBody>
                    <a:bodyPr/>
                    <a:lstStyle/>
                    <a:p>
                      <a:r>
                        <a:rPr lang="en-IN" sz="1400" dirty="0">
                          <a:latin typeface="Times New Roman" pitchFamily="18" charset="0"/>
                          <a:cs typeface="Times New Roman" pitchFamily="18" charset="0"/>
                        </a:rPr>
                        <a:t>Classical MIMO detection techniques consider unquantized observations, and many of them are not applicable to the one-bit MIMO case. </a:t>
                      </a:r>
                    </a:p>
                  </a:txBody>
                  <a:tcPr marL="121920" marR="121920"/>
                </a:tc>
                <a:extLst>
                  <a:ext uri="{0D108BD9-81ED-4DB2-BD59-A6C34878D82A}">
                    <a16:rowId xmlns:a16="http://schemas.microsoft.com/office/drawing/2014/main" val="10001"/>
                  </a:ext>
                </a:extLst>
              </a:tr>
              <a:tr h="2644782">
                <a:tc>
                  <a:txBody>
                    <a:bodyPr/>
                    <a:lstStyle/>
                    <a:p>
                      <a:r>
                        <a:rPr lang="en-IN" sz="1400" dirty="0">
                          <a:latin typeface="Times New Roman" pitchFamily="18" charset="0"/>
                          <a:cs typeface="Times New Roman" pitchFamily="18" charset="0"/>
                        </a:rPr>
                        <a:t>Carmen </a:t>
                      </a:r>
                      <a:r>
                        <a:rPr lang="en-IN" sz="1400" dirty="0" err="1">
                          <a:latin typeface="Times New Roman" pitchFamily="18" charset="0"/>
                          <a:cs typeface="Times New Roman" pitchFamily="18" charset="0"/>
                        </a:rPr>
                        <a:t>D’Andrea</a:t>
                      </a:r>
                      <a:r>
                        <a:rPr lang="en-IN" sz="1400" dirty="0">
                          <a:latin typeface="Times New Roman" pitchFamily="18" charset="0"/>
                          <a:cs typeface="Times New Roman" pitchFamily="18" charset="0"/>
                        </a:rPr>
                        <a:t>, and Erik G. Larsson,</a:t>
                      </a:r>
                    </a:p>
                  </a:txBody>
                  <a:tcPr marL="121920" marR="121920"/>
                </a:tc>
                <a:tc>
                  <a:txBody>
                    <a:bodyPr/>
                    <a:lstStyle/>
                    <a:p>
                      <a:r>
                        <a:rPr lang="en-IN" sz="1400" dirty="0">
                          <a:latin typeface="Times New Roman" pitchFamily="18" charset="0"/>
                          <a:cs typeface="Times New Roman" pitchFamily="18" charset="0"/>
                        </a:rPr>
                        <a:t>Improving Cell-Free Massive MIMO by Local Per-Bit Soft Detection</a:t>
                      </a:r>
                    </a:p>
                  </a:txBody>
                  <a:tcPr marL="121920" marR="121920"/>
                </a:tc>
                <a:tc>
                  <a:txBody>
                    <a:bodyPr/>
                    <a:lstStyle/>
                    <a:p>
                      <a:r>
                        <a:rPr lang="en-IN" sz="1400" b="0" i="0" kern="1200" dirty="0">
                          <a:solidFill>
                            <a:schemeClr val="dk1"/>
                          </a:solidFill>
                          <a:latin typeface="Times New Roman" pitchFamily="18" charset="0"/>
                          <a:ea typeface="+mn-ea"/>
                          <a:cs typeface="Times New Roman" pitchFamily="18" charset="0"/>
                        </a:rPr>
                        <a:t>In this </a:t>
                      </a:r>
                      <a:r>
                        <a:rPr lang="en-IN" sz="1400" b="0" i="0" kern="1200" baseline="0" dirty="0">
                          <a:solidFill>
                            <a:schemeClr val="dk1"/>
                          </a:solidFill>
                          <a:latin typeface="Times New Roman" pitchFamily="18" charset="0"/>
                          <a:ea typeface="+mn-ea"/>
                          <a:cs typeface="Times New Roman" pitchFamily="18" charset="0"/>
                        </a:rPr>
                        <a:t> paper</a:t>
                      </a:r>
                      <a:r>
                        <a:rPr lang="en-IN" sz="1400" b="0" i="0" kern="1200" dirty="0">
                          <a:solidFill>
                            <a:schemeClr val="dk1"/>
                          </a:solidFill>
                          <a:latin typeface="Times New Roman" pitchFamily="18" charset="0"/>
                          <a:ea typeface="+mn-ea"/>
                          <a:cs typeface="Times New Roman" pitchFamily="18" charset="0"/>
                        </a:rPr>
                        <a:t>, we consider the uplink of a cell-free Massive multiple-input multiple-output (MIMO) network where each user is decoded by a subset of access points (APs)</a:t>
                      </a:r>
                      <a:endParaRPr lang="en-IN" sz="1400" dirty="0">
                        <a:latin typeface="Times New Roman" pitchFamily="18" charset="0"/>
                        <a:cs typeface="Times New Roman" pitchFamily="18" charset="0"/>
                      </a:endParaRPr>
                    </a:p>
                  </a:txBody>
                  <a:tcPr marL="121920" marR="121920"/>
                </a:tc>
                <a:tc>
                  <a:txBody>
                    <a:bodyPr/>
                    <a:lstStyle/>
                    <a:p>
                      <a:r>
                        <a:rPr lang="en-IN" sz="1800" b="0" i="0" kern="1200" dirty="0">
                          <a:solidFill>
                            <a:schemeClr val="dk1"/>
                          </a:solidFill>
                          <a:latin typeface="Times New Roman" pitchFamily="18" charset="0"/>
                          <a:ea typeface="+mn-ea"/>
                          <a:cs typeface="Times New Roman" pitchFamily="18" charset="0"/>
                        </a:rPr>
                        <a:t>The non-linear processing at the APs consists of the approximate computation of the posterior density for each received data bit, exploiting only local channel state information</a:t>
                      </a:r>
                      <a:r>
                        <a:rPr lang="en-IN" sz="1800" b="0" i="0" kern="1200" baseline="0" dirty="0">
                          <a:solidFill>
                            <a:schemeClr val="dk1"/>
                          </a:solidFill>
                          <a:latin typeface="Times New Roman" pitchFamily="18" charset="0"/>
                          <a:ea typeface="+mn-ea"/>
                          <a:cs typeface="Times New Roman" pitchFamily="18" charset="0"/>
                        </a:rPr>
                        <a:t> only.</a:t>
                      </a:r>
                      <a:endParaRPr lang="en-IN" dirty="0">
                        <a:latin typeface="Times New Roman" pitchFamily="18" charset="0"/>
                        <a:cs typeface="Times New Roman" pitchFamily="18" charset="0"/>
                      </a:endParaRPr>
                    </a:p>
                  </a:txBody>
                  <a:tcPr marL="121920" marR="121920"/>
                </a:tc>
                <a:extLst>
                  <a:ext uri="{0D108BD9-81ED-4DB2-BD59-A6C34878D82A}">
                    <a16:rowId xmlns:a16="http://schemas.microsoft.com/office/drawing/2014/main" val="10002"/>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graphicFrame>
        <p:nvGraphicFramePr>
          <p:cNvPr id="4" name="Content Placeholder 3"/>
          <p:cNvGraphicFramePr>
            <a:graphicFrameLocks noGrp="1"/>
          </p:cNvGraphicFramePr>
          <p:nvPr>
            <p:ph idx="1"/>
          </p:nvPr>
        </p:nvGraphicFramePr>
        <p:xfrm>
          <a:off x="609600" y="1600200"/>
          <a:ext cx="10972800" cy="4208410"/>
        </p:xfrm>
        <a:graphic>
          <a:graphicData uri="http://schemas.openxmlformats.org/drawingml/2006/table">
            <a:tbl>
              <a:tblPr firstRow="1" bandRow="1">
                <a:tableStyleId>{5C22544A-7EE6-4342-B048-85BDC9FD1C3A}</a:tableStyleId>
              </a:tblPr>
              <a:tblGrid>
                <a:gridCol w="2247877">
                  <a:extLst>
                    <a:ext uri="{9D8B030D-6E8A-4147-A177-3AD203B41FA5}">
                      <a16:colId xmlns:a16="http://schemas.microsoft.com/office/drawing/2014/main" val="20000"/>
                    </a:ext>
                  </a:extLst>
                </a:gridCol>
                <a:gridCol w="2667019">
                  <a:extLst>
                    <a:ext uri="{9D8B030D-6E8A-4147-A177-3AD203B41FA5}">
                      <a16:colId xmlns:a16="http://schemas.microsoft.com/office/drawing/2014/main" val="20001"/>
                    </a:ext>
                  </a:extLst>
                </a:gridCol>
                <a:gridCol w="2952771">
                  <a:extLst>
                    <a:ext uri="{9D8B030D-6E8A-4147-A177-3AD203B41FA5}">
                      <a16:colId xmlns:a16="http://schemas.microsoft.com/office/drawing/2014/main" val="20002"/>
                    </a:ext>
                  </a:extLst>
                </a:gridCol>
                <a:gridCol w="3105133">
                  <a:extLst>
                    <a:ext uri="{9D8B030D-6E8A-4147-A177-3AD203B41FA5}">
                      <a16:colId xmlns:a16="http://schemas.microsoft.com/office/drawing/2014/main" val="20003"/>
                    </a:ext>
                  </a:extLst>
                </a:gridCol>
              </a:tblGrid>
              <a:tr h="614354">
                <a:tc>
                  <a:txBody>
                    <a:bodyPr/>
                    <a:lstStyle/>
                    <a:p>
                      <a:r>
                        <a:rPr lang="en-US" dirty="0"/>
                        <a:t> </a:t>
                      </a:r>
                    </a:p>
                    <a:p>
                      <a:r>
                        <a:rPr lang="en-US" dirty="0"/>
                        <a:t>    AUTHOR</a:t>
                      </a:r>
                      <a:endParaRPr lang="en-IN" dirty="0"/>
                    </a:p>
                  </a:txBody>
                  <a:tcPr marL="121920" marR="121920"/>
                </a:tc>
                <a:tc>
                  <a:txBody>
                    <a:bodyPr/>
                    <a:lstStyle/>
                    <a:p>
                      <a:endParaRPr lang="en-US" dirty="0"/>
                    </a:p>
                    <a:p>
                      <a:r>
                        <a:rPr lang="en-US" dirty="0"/>
                        <a:t>       PAPER</a:t>
                      </a:r>
                      <a:endParaRPr lang="en-IN" dirty="0"/>
                    </a:p>
                  </a:txBody>
                  <a:tcPr marL="121920" marR="121920"/>
                </a:tc>
                <a:tc>
                  <a:txBody>
                    <a:bodyPr/>
                    <a:lstStyle/>
                    <a:p>
                      <a:endParaRPr lang="en-US" dirty="0"/>
                    </a:p>
                    <a:p>
                      <a:r>
                        <a:rPr lang="en-US" dirty="0"/>
                        <a:t>       INFERENCE</a:t>
                      </a:r>
                      <a:endParaRPr lang="en-IN" dirty="0"/>
                    </a:p>
                  </a:txBody>
                  <a:tcPr marL="121920" marR="121920"/>
                </a:tc>
                <a:tc>
                  <a:txBody>
                    <a:bodyPr/>
                    <a:lstStyle/>
                    <a:p>
                      <a:r>
                        <a:rPr lang="en-US" dirty="0"/>
                        <a:t> </a:t>
                      </a:r>
                    </a:p>
                    <a:p>
                      <a:r>
                        <a:rPr lang="en-US" dirty="0"/>
                        <a:t>PROBLEM IDENTIFIED</a:t>
                      </a:r>
                      <a:endParaRPr lang="en-IN" dirty="0"/>
                    </a:p>
                  </a:txBody>
                  <a:tcPr marL="121920" marR="121920"/>
                </a:tc>
                <a:extLst>
                  <a:ext uri="{0D108BD9-81ED-4DB2-BD59-A6C34878D82A}">
                    <a16:rowId xmlns:a16="http://schemas.microsoft.com/office/drawing/2014/main" val="10000"/>
                  </a:ext>
                </a:extLst>
              </a:tr>
              <a:tr h="3568330">
                <a:tc>
                  <a:txBody>
                    <a:bodyPr/>
                    <a:lstStyle/>
                    <a:p>
                      <a:r>
                        <a:rPr lang="en-IN" sz="1400" b="0" i="0" u="none" strike="noStrike" kern="1200" dirty="0" err="1">
                          <a:solidFill>
                            <a:schemeClr val="dk1"/>
                          </a:solidFill>
                          <a:latin typeface="Times New Roman" pitchFamily="18" charset="0"/>
                          <a:ea typeface="+mn-ea"/>
                          <a:cs typeface="Times New Roman" pitchFamily="18" charset="0"/>
                          <a:hlinkClick r:id="rId2"/>
                        </a:rPr>
                        <a:t>Zhiwen</a:t>
                      </a:r>
                      <a:r>
                        <a:rPr lang="en-IN" sz="1400" b="0" i="0" u="none" strike="noStrike" kern="1200" dirty="0">
                          <a:solidFill>
                            <a:schemeClr val="dk1"/>
                          </a:solidFill>
                          <a:latin typeface="Times New Roman" pitchFamily="18" charset="0"/>
                          <a:ea typeface="+mn-ea"/>
                          <a:cs typeface="Times New Roman" pitchFamily="18" charset="0"/>
                          <a:hlinkClick r:id="rId2"/>
                        </a:rPr>
                        <a:t> Wu</a:t>
                      </a:r>
                      <a:r>
                        <a:rPr lang="en-IN" sz="1400" b="0" i="0" kern="1200" dirty="0">
                          <a:solidFill>
                            <a:schemeClr val="dk1"/>
                          </a:solidFill>
                          <a:latin typeface="Times New Roman" pitchFamily="18" charset="0"/>
                          <a:ea typeface="+mn-ea"/>
                          <a:cs typeface="Times New Roman" pitchFamily="18" charset="0"/>
                        </a:rPr>
                        <a:t>; </a:t>
                      </a:r>
                      <a:r>
                        <a:rPr lang="en-IN" sz="1400" b="0" i="0" u="none" strike="noStrike" kern="1200" dirty="0" err="1">
                          <a:solidFill>
                            <a:schemeClr val="dk1"/>
                          </a:solidFill>
                          <a:latin typeface="Times New Roman" pitchFamily="18" charset="0"/>
                          <a:ea typeface="+mn-ea"/>
                          <a:cs typeface="Times New Roman" pitchFamily="18" charset="0"/>
                          <a:hlinkClick r:id="rId3"/>
                        </a:rPr>
                        <a:t>Hui</a:t>
                      </a:r>
                      <a:r>
                        <a:rPr lang="en-IN" sz="1400" b="0" i="0" u="none" strike="noStrike" kern="1200" dirty="0">
                          <a:solidFill>
                            <a:schemeClr val="dk1"/>
                          </a:solidFill>
                          <a:latin typeface="Times New Roman" pitchFamily="18" charset="0"/>
                          <a:ea typeface="+mn-ea"/>
                          <a:cs typeface="Times New Roman" pitchFamily="18" charset="0"/>
                          <a:hlinkClick r:id="rId3"/>
                        </a:rPr>
                        <a:t> Li</a:t>
                      </a:r>
                      <a:endParaRPr lang="en-IN" sz="1400" dirty="0">
                        <a:latin typeface="Times New Roman" pitchFamily="18" charset="0"/>
                        <a:cs typeface="Times New Roman" pitchFamily="18" charset="0"/>
                      </a:endParaRPr>
                    </a:p>
                  </a:txBody>
                  <a:tcPr marL="121920" marR="12192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400" b="1" i="0" kern="1200" dirty="0">
                          <a:solidFill>
                            <a:schemeClr val="dk1"/>
                          </a:solidFill>
                          <a:latin typeface="Times New Roman" pitchFamily="18" charset="0"/>
                          <a:ea typeface="+mn-ea"/>
                          <a:cs typeface="Times New Roman" pitchFamily="18" charset="0"/>
                        </a:rPr>
                        <a:t>Stochastic Gradient </a:t>
                      </a:r>
                      <a:r>
                        <a:rPr lang="en-IN" sz="1400" b="1" i="0" kern="1200" dirty="0" err="1">
                          <a:solidFill>
                            <a:schemeClr val="dk1"/>
                          </a:solidFill>
                          <a:latin typeface="Times New Roman" pitchFamily="18" charset="0"/>
                          <a:ea typeface="+mn-ea"/>
                          <a:cs typeface="Times New Roman" pitchFamily="18" charset="0"/>
                        </a:rPr>
                        <a:t>Langevin</a:t>
                      </a:r>
                      <a:r>
                        <a:rPr lang="en-IN" sz="1400" b="1" i="0" kern="1200" dirty="0">
                          <a:solidFill>
                            <a:schemeClr val="dk1"/>
                          </a:solidFill>
                          <a:latin typeface="Times New Roman" pitchFamily="18" charset="0"/>
                          <a:ea typeface="+mn-ea"/>
                          <a:cs typeface="Times New Roman" pitchFamily="18" charset="0"/>
                        </a:rPr>
                        <a:t> Dynamics for Massive MIMO Detection</a:t>
                      </a:r>
                    </a:p>
                    <a:p>
                      <a:endParaRPr lang="en-IN" sz="1400" dirty="0">
                        <a:latin typeface="Times New Roman" pitchFamily="18" charset="0"/>
                        <a:cs typeface="Times New Roman" pitchFamily="18" charset="0"/>
                      </a:endParaRPr>
                    </a:p>
                  </a:txBody>
                  <a:tcPr marL="121920" marR="121920"/>
                </a:tc>
                <a:tc>
                  <a:txBody>
                    <a:bodyPr/>
                    <a:lstStyle/>
                    <a:p>
                      <a:r>
                        <a:rPr lang="en-IN" sz="1400" b="0" i="0" kern="1200" dirty="0">
                          <a:solidFill>
                            <a:schemeClr val="dk1"/>
                          </a:solidFill>
                          <a:latin typeface="Times New Roman" pitchFamily="18" charset="0"/>
                          <a:ea typeface="+mn-ea"/>
                          <a:cs typeface="Times New Roman" pitchFamily="18" charset="0"/>
                        </a:rPr>
                        <a:t>In this letter a MIMO detector with low computational complexity is proposed based on Stochastic Gradient </a:t>
                      </a:r>
                      <a:r>
                        <a:rPr lang="en-IN" sz="1400" b="0" i="0" kern="1200" dirty="0" err="1">
                          <a:solidFill>
                            <a:schemeClr val="dk1"/>
                          </a:solidFill>
                          <a:latin typeface="Times New Roman" pitchFamily="18" charset="0"/>
                          <a:ea typeface="+mn-ea"/>
                          <a:cs typeface="Times New Roman" pitchFamily="18" charset="0"/>
                        </a:rPr>
                        <a:t>Langevin</a:t>
                      </a:r>
                      <a:r>
                        <a:rPr lang="en-IN" sz="1400" b="0" i="0" kern="1200" dirty="0">
                          <a:solidFill>
                            <a:schemeClr val="dk1"/>
                          </a:solidFill>
                          <a:latin typeface="Times New Roman" pitchFamily="18" charset="0"/>
                          <a:ea typeface="+mn-ea"/>
                          <a:cs typeface="Times New Roman" pitchFamily="18" charset="0"/>
                        </a:rPr>
                        <a:t> Dynamics (SGLD). </a:t>
                      </a:r>
                      <a:endParaRPr lang="en-IN" sz="1400" dirty="0">
                        <a:latin typeface="Times New Roman" pitchFamily="18" charset="0"/>
                        <a:cs typeface="Times New Roman" pitchFamily="18" charset="0"/>
                      </a:endParaRPr>
                    </a:p>
                  </a:txBody>
                  <a:tcPr marL="121920" marR="121920"/>
                </a:tc>
                <a:tc>
                  <a:txBody>
                    <a:bodyPr/>
                    <a:lstStyle/>
                    <a:p>
                      <a:r>
                        <a:rPr lang="en-IN" sz="1400" b="0" i="0" kern="1200" dirty="0">
                          <a:solidFill>
                            <a:schemeClr val="dk1"/>
                          </a:solidFill>
                          <a:latin typeface="Times New Roman" pitchFamily="18" charset="0"/>
                          <a:ea typeface="+mn-ea"/>
                          <a:cs typeface="Times New Roman" pitchFamily="18" charset="0"/>
                        </a:rPr>
                        <a:t>The proposed detector estimates the modulated symbols through a non-convex optimization problem which is solved by SGLD based algorithm. </a:t>
                      </a:r>
                      <a:endParaRPr lang="en-IN" sz="1400" dirty="0">
                        <a:latin typeface="Times New Roman" pitchFamily="18" charset="0"/>
                        <a:cs typeface="Times New Roman" pitchFamily="18" charset="0"/>
                      </a:endParaRPr>
                    </a:p>
                  </a:txBody>
                  <a:tcPr marL="121920" marR="121920"/>
                </a:tc>
                <a:extLst>
                  <a:ext uri="{0D108BD9-81ED-4DB2-BD59-A6C34878D82A}">
                    <a16:rowId xmlns:a16="http://schemas.microsoft.com/office/drawing/2014/main" val="10001"/>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g20c39108249_1_0"/>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dirty="0">
                <a:latin typeface="Times New Roman"/>
                <a:ea typeface="Times New Roman"/>
                <a:cs typeface="Times New Roman"/>
                <a:sym typeface="Times New Roman"/>
              </a:rPr>
              <a:t>EXISTING  SYSTEM</a:t>
            </a:r>
            <a:endParaRPr dirty="0">
              <a:latin typeface="Times New Roman"/>
              <a:ea typeface="Times New Roman"/>
              <a:cs typeface="Times New Roman"/>
              <a:sym typeface="Times New Roman"/>
            </a:endParaRPr>
          </a:p>
        </p:txBody>
      </p:sp>
      <p:sp>
        <p:nvSpPr>
          <p:cNvPr id="142" name="Google Shape;142;g20c39108249_1_0"/>
          <p:cNvSpPr txBox="1">
            <a:spLocks noGrp="1"/>
          </p:cNvSpPr>
          <p:nvPr>
            <p:ph idx="1"/>
          </p:nvPr>
        </p:nvSpPr>
        <p:spPr>
          <a:prstGeom prst="rect">
            <a:avLst/>
          </a:prstGeom>
          <a:noFill/>
          <a:ln>
            <a:noFill/>
          </a:ln>
        </p:spPr>
        <p:txBody>
          <a:bodyPr spcFirstLastPara="1" wrap="square" lIns="91425" tIns="45700" rIns="91425" bIns="45700" anchor="t" anchorCtr="0">
            <a:normAutofit lnSpcReduction="10000"/>
          </a:bodyPr>
          <a:lstStyle/>
          <a:p>
            <a:pPr marL="457200" lvl="0" indent="-387350" algn="just" rtl="0">
              <a:lnSpc>
                <a:spcPct val="90000"/>
              </a:lnSpc>
              <a:spcBef>
                <a:spcPts val="1000"/>
              </a:spcBef>
              <a:spcAft>
                <a:spcPts val="0"/>
              </a:spcAft>
              <a:buClr>
                <a:srgbClr val="333333"/>
              </a:buClr>
              <a:buSzPts val="2500"/>
              <a:buFont typeface="Times New Roman"/>
              <a:buChar char="➢"/>
            </a:pPr>
            <a:r>
              <a:rPr lang="en-US" sz="2800" b="0" i="0" dirty="0">
                <a:solidFill>
                  <a:srgbClr val="000000"/>
                </a:solidFill>
                <a:effectLst/>
                <a:latin typeface="STIXGeneral-Regular"/>
              </a:rPr>
              <a:t>A frequency reconfigurable patch antenna design based on the characteristic mode analysis is presented. The antenna presents a reconfigurable lower band and a steady band at higher frequencies. A slot is etched on the ground plane of the antenna, where two varactor diodes are placed on each side of the slot in order to tune the lower band. The first resonant frequency shifts down by varying the reverse voltage of the varactor, whereas the second operating frequency keeps stable. The proposed antenna is designed to cover WLAN bands, offering a first band operating at 2 GHz and a second band ranging from 5.3 GHz to 5.8 GHz. A prototype has been fabricated and measurements are provided, which validate the proposed analysis, method, and design procedure.</a:t>
            </a:r>
            <a:endParaRPr sz="4000" dirty="0">
              <a:solidFill>
                <a:srgbClr val="333333"/>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g20c39108249_1_0"/>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dirty="0">
                <a:latin typeface="Times New Roman"/>
                <a:ea typeface="Times New Roman"/>
                <a:cs typeface="Times New Roman"/>
                <a:sym typeface="Times New Roman"/>
              </a:rPr>
              <a:t>PROPOSED SYSTEM</a:t>
            </a:r>
            <a:endParaRPr dirty="0">
              <a:latin typeface="Times New Roman"/>
              <a:ea typeface="Times New Roman"/>
              <a:cs typeface="Times New Roman"/>
              <a:sym typeface="Times New Roman"/>
            </a:endParaRPr>
          </a:p>
        </p:txBody>
      </p:sp>
      <p:sp>
        <p:nvSpPr>
          <p:cNvPr id="142" name="Google Shape;142;g20c39108249_1_0"/>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marL="457200" lvl="0" indent="-387350" algn="just" rtl="0">
              <a:lnSpc>
                <a:spcPct val="90000"/>
              </a:lnSpc>
              <a:spcBef>
                <a:spcPts val="1000"/>
              </a:spcBef>
              <a:spcAft>
                <a:spcPts val="0"/>
              </a:spcAft>
              <a:buClr>
                <a:srgbClr val="333333"/>
              </a:buClr>
              <a:buSzPts val="2500"/>
              <a:buFont typeface="Times New Roman"/>
              <a:buChar char="➢"/>
            </a:pPr>
            <a:r>
              <a:rPr lang="en-US" sz="2500">
                <a:solidFill>
                  <a:srgbClr val="333333"/>
                </a:solidFill>
                <a:latin typeface="Times New Roman"/>
                <a:ea typeface="Times New Roman"/>
                <a:cs typeface="Times New Roman"/>
                <a:sym typeface="Times New Roman"/>
              </a:rPr>
              <a:t>OFDM system channel estimation method is of two categories : </a:t>
            </a:r>
            <a:endParaRPr sz="2500">
              <a:solidFill>
                <a:srgbClr val="333333"/>
              </a:solidFill>
              <a:latin typeface="Times New Roman"/>
              <a:ea typeface="Times New Roman"/>
              <a:cs typeface="Times New Roman"/>
              <a:sym typeface="Times New Roman"/>
            </a:endParaRPr>
          </a:p>
          <a:p>
            <a:pPr marL="457200" lvl="0" indent="0" algn="just" rtl="0">
              <a:lnSpc>
                <a:spcPct val="90000"/>
              </a:lnSpc>
              <a:spcBef>
                <a:spcPts val="1000"/>
              </a:spcBef>
              <a:spcAft>
                <a:spcPts val="0"/>
              </a:spcAft>
              <a:buClr>
                <a:schemeClr val="dk1"/>
              </a:buClr>
              <a:buSzPts val="1100"/>
              <a:buFont typeface="Arial"/>
              <a:buNone/>
            </a:pPr>
            <a:r>
              <a:rPr lang="en-US" sz="2500">
                <a:solidFill>
                  <a:srgbClr val="333333"/>
                </a:solidFill>
                <a:latin typeface="Times New Roman"/>
                <a:ea typeface="Times New Roman"/>
                <a:cs typeface="Times New Roman"/>
                <a:sym typeface="Times New Roman"/>
              </a:rPr>
              <a:t>1.Blind Estimation and  2. Pilot-Assisted channel Estimation.</a:t>
            </a:r>
            <a:endParaRPr sz="2500">
              <a:solidFill>
                <a:srgbClr val="333333"/>
              </a:solidFill>
              <a:latin typeface="Times New Roman"/>
              <a:ea typeface="Times New Roman"/>
              <a:cs typeface="Times New Roman"/>
              <a:sym typeface="Times New Roman"/>
            </a:endParaRPr>
          </a:p>
          <a:p>
            <a:pPr marL="457200" lvl="0" indent="0" algn="just" rtl="0">
              <a:lnSpc>
                <a:spcPct val="90000"/>
              </a:lnSpc>
              <a:spcBef>
                <a:spcPts val="1000"/>
              </a:spcBef>
              <a:spcAft>
                <a:spcPts val="0"/>
              </a:spcAft>
              <a:buClr>
                <a:schemeClr val="dk1"/>
              </a:buClr>
              <a:buSzPts val="1100"/>
              <a:buFont typeface="Arial"/>
              <a:buNone/>
            </a:pPr>
            <a:endParaRPr sz="2500">
              <a:solidFill>
                <a:srgbClr val="333333"/>
              </a:solidFill>
              <a:latin typeface="Times New Roman"/>
              <a:ea typeface="Times New Roman"/>
              <a:cs typeface="Times New Roman"/>
              <a:sym typeface="Times New Roman"/>
            </a:endParaRPr>
          </a:p>
          <a:p>
            <a:pPr marL="457200" lvl="0" indent="-387350" algn="just" rtl="0">
              <a:lnSpc>
                <a:spcPct val="90000"/>
              </a:lnSpc>
              <a:spcBef>
                <a:spcPts val="1000"/>
              </a:spcBef>
              <a:spcAft>
                <a:spcPts val="0"/>
              </a:spcAft>
              <a:buClr>
                <a:srgbClr val="333333"/>
              </a:buClr>
              <a:buSzPts val="2500"/>
              <a:buFont typeface="Times New Roman"/>
              <a:buChar char="➢"/>
            </a:pPr>
            <a:r>
              <a:rPr lang="en-US" sz="2500">
                <a:solidFill>
                  <a:srgbClr val="333333"/>
                </a:solidFill>
                <a:latin typeface="Times New Roman"/>
                <a:ea typeface="Times New Roman"/>
                <a:cs typeface="Times New Roman"/>
                <a:sym typeface="Times New Roman"/>
              </a:rPr>
              <a:t>Blind Estimation :</a:t>
            </a:r>
            <a:endParaRPr sz="2500">
              <a:solidFill>
                <a:srgbClr val="333333"/>
              </a:solidFill>
              <a:latin typeface="Times New Roman"/>
              <a:ea typeface="Times New Roman"/>
              <a:cs typeface="Times New Roman"/>
              <a:sym typeface="Times New Roman"/>
            </a:endParaRPr>
          </a:p>
          <a:p>
            <a:pPr marL="457200" lvl="0" indent="0" algn="just" rtl="0">
              <a:lnSpc>
                <a:spcPct val="90000"/>
              </a:lnSpc>
              <a:spcBef>
                <a:spcPts val="1000"/>
              </a:spcBef>
              <a:spcAft>
                <a:spcPts val="0"/>
              </a:spcAft>
              <a:buClr>
                <a:schemeClr val="dk1"/>
              </a:buClr>
              <a:buSzPts val="1100"/>
              <a:buFont typeface="Arial"/>
              <a:buNone/>
            </a:pPr>
            <a:r>
              <a:rPr lang="en-US" sz="2500">
                <a:solidFill>
                  <a:srgbClr val="333333"/>
                </a:solidFill>
                <a:latin typeface="Times New Roman"/>
                <a:ea typeface="Times New Roman"/>
                <a:cs typeface="Times New Roman"/>
                <a:sym typeface="Times New Roman"/>
              </a:rPr>
              <a:t>the sent data is completely unknown.</a:t>
            </a:r>
            <a:endParaRPr sz="2500">
              <a:solidFill>
                <a:srgbClr val="333333"/>
              </a:solidFill>
              <a:latin typeface="Times New Roman"/>
              <a:ea typeface="Times New Roman"/>
              <a:cs typeface="Times New Roman"/>
              <a:sym typeface="Times New Roman"/>
            </a:endParaRPr>
          </a:p>
          <a:p>
            <a:pPr marL="457200" lvl="0" indent="0" algn="just" rtl="0">
              <a:lnSpc>
                <a:spcPct val="90000"/>
              </a:lnSpc>
              <a:spcBef>
                <a:spcPts val="1000"/>
              </a:spcBef>
              <a:spcAft>
                <a:spcPts val="0"/>
              </a:spcAft>
              <a:buSzPts val="1800"/>
              <a:buNone/>
            </a:pPr>
            <a:r>
              <a:rPr lang="en-US" sz="2500">
                <a:solidFill>
                  <a:srgbClr val="333333"/>
                </a:solidFill>
                <a:latin typeface="Times New Roman"/>
                <a:ea typeface="Times New Roman"/>
                <a:cs typeface="Times New Roman"/>
                <a:sym typeface="Times New Roman"/>
              </a:rPr>
              <a:t>This method allows transmitters do not have to send a special training sequence, it enhances the spectrum efficiency.</a:t>
            </a:r>
            <a:endParaRPr sz="2500">
              <a:solidFill>
                <a:srgbClr val="333333"/>
              </a:solidFill>
              <a:latin typeface="Times New Roman"/>
              <a:ea typeface="Times New Roman"/>
              <a:cs typeface="Times New Roman"/>
              <a:sym typeface="Times New Roman"/>
            </a:endParaRPr>
          </a:p>
          <a:p>
            <a:pPr marL="457200" lvl="0" indent="-387350" algn="just" rtl="0">
              <a:lnSpc>
                <a:spcPct val="90000"/>
              </a:lnSpc>
              <a:spcBef>
                <a:spcPts val="1000"/>
              </a:spcBef>
              <a:spcAft>
                <a:spcPts val="0"/>
              </a:spcAft>
              <a:buClr>
                <a:srgbClr val="333333"/>
              </a:buClr>
              <a:buSzPts val="2500"/>
              <a:buFont typeface="Times New Roman"/>
              <a:buChar char="➢"/>
            </a:pPr>
            <a:r>
              <a:rPr lang="en-US" sz="2500">
                <a:solidFill>
                  <a:srgbClr val="333333"/>
                </a:solidFill>
                <a:latin typeface="Times New Roman"/>
                <a:ea typeface="Times New Roman"/>
                <a:cs typeface="Times New Roman"/>
                <a:sym typeface="Times New Roman"/>
              </a:rPr>
              <a:t>Pilot Assisted Channel Estimation :</a:t>
            </a:r>
            <a:endParaRPr sz="2500">
              <a:solidFill>
                <a:srgbClr val="333333"/>
              </a:solidFill>
              <a:latin typeface="Times New Roman"/>
              <a:ea typeface="Times New Roman"/>
              <a:cs typeface="Times New Roman"/>
              <a:sym typeface="Times New Roman"/>
            </a:endParaRPr>
          </a:p>
          <a:p>
            <a:pPr marL="914400" lvl="0" indent="0" algn="just" rtl="0">
              <a:lnSpc>
                <a:spcPct val="90000"/>
              </a:lnSpc>
              <a:spcBef>
                <a:spcPts val="1000"/>
              </a:spcBef>
              <a:spcAft>
                <a:spcPts val="0"/>
              </a:spcAft>
              <a:buSzPts val="1800"/>
              <a:buNone/>
            </a:pPr>
            <a:r>
              <a:rPr lang="en-US" sz="2500">
                <a:solidFill>
                  <a:srgbClr val="333333"/>
                </a:solidFill>
                <a:latin typeface="Times New Roman"/>
                <a:ea typeface="Times New Roman"/>
                <a:cs typeface="Times New Roman"/>
                <a:sym typeface="Times New Roman"/>
              </a:rPr>
              <a:t>To check whether the channel is free or not.</a:t>
            </a:r>
            <a:endParaRPr sz="2500">
              <a:solidFill>
                <a:srgbClr val="333333"/>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41742073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6"/>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Times New Roman"/>
              <a:buNone/>
            </a:pPr>
            <a:r>
              <a:rPr lang="en-US" b="1" dirty="0">
                <a:latin typeface="Times New Roman"/>
                <a:ea typeface="Times New Roman"/>
                <a:cs typeface="Times New Roman"/>
                <a:sym typeface="Times New Roman"/>
              </a:rPr>
              <a:t>Proposed Block diagram</a:t>
            </a:r>
            <a:endParaRPr b="1">
              <a:latin typeface="Times New Roman"/>
              <a:ea typeface="Times New Roman"/>
              <a:cs typeface="Times New Roman"/>
              <a:sym typeface="Times New Roman"/>
            </a:endParaRPr>
          </a:p>
        </p:txBody>
      </p:sp>
      <p:sp>
        <p:nvSpPr>
          <p:cNvPr id="73730" name="AutoShape 2" descr="blob:https://web.whatsapp.com/0af55c84-72c5-4957-a463-03627235f0e7"/>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IN"/>
          </a:p>
        </p:txBody>
      </p:sp>
      <p:pic>
        <p:nvPicPr>
          <p:cNvPr id="73731" name="Picture 3"/>
          <p:cNvPicPr>
            <a:picLocks noChangeAspect="1" noChangeArrowheads="1"/>
          </p:cNvPicPr>
          <p:nvPr/>
        </p:nvPicPr>
        <p:blipFill>
          <a:blip r:embed="rId3"/>
          <a:srcRect/>
          <a:stretch>
            <a:fillRect/>
          </a:stretch>
        </p:blipFill>
        <p:spPr bwMode="auto">
          <a:xfrm>
            <a:off x="2009775" y="1085850"/>
            <a:ext cx="8096250" cy="5524500"/>
          </a:xfrm>
          <a:prstGeom prst="rect">
            <a:avLst/>
          </a:prstGeom>
          <a:noFill/>
          <a:ln w="9525">
            <a:noFill/>
            <a:miter lim="800000"/>
            <a:headEnd/>
            <a:tailEnd/>
          </a:ln>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g2097b5e3b7f_0_32"/>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b="1">
                <a:latin typeface="Times"/>
                <a:ea typeface="Times"/>
                <a:cs typeface="Times"/>
                <a:sym typeface="Times"/>
              </a:rPr>
              <a:t>Antenna Structure</a:t>
            </a:r>
            <a:endParaRPr b="1">
              <a:latin typeface="Times"/>
              <a:ea typeface="Times"/>
              <a:cs typeface="Times"/>
              <a:sym typeface="Times"/>
            </a:endParaRPr>
          </a:p>
        </p:txBody>
      </p:sp>
      <p:pic>
        <p:nvPicPr>
          <p:cNvPr id="172" name="Google Shape;172;g2097b5e3b7f_0_32"/>
          <p:cNvPicPr preferRelativeResize="0"/>
          <p:nvPr/>
        </p:nvPicPr>
        <p:blipFill rotWithShape="1">
          <a:blip r:embed="rId3">
            <a:alphaModFix/>
          </a:blip>
          <a:srcRect l="11232" t="1505" r="11464" b="3228"/>
          <a:stretch/>
        </p:blipFill>
        <p:spPr>
          <a:xfrm>
            <a:off x="753650" y="1825625"/>
            <a:ext cx="5210900" cy="4431326"/>
          </a:xfrm>
          <a:prstGeom prst="rect">
            <a:avLst/>
          </a:prstGeom>
          <a:noFill/>
          <a:ln>
            <a:noFill/>
          </a:ln>
        </p:spPr>
      </p:pic>
      <p:pic>
        <p:nvPicPr>
          <p:cNvPr id="173" name="Google Shape;173;g2097b5e3b7f_0_32"/>
          <p:cNvPicPr preferRelativeResize="0"/>
          <p:nvPr/>
        </p:nvPicPr>
        <p:blipFill>
          <a:blip r:embed="rId4">
            <a:alphaModFix/>
          </a:blip>
          <a:stretch>
            <a:fillRect/>
          </a:stretch>
        </p:blipFill>
        <p:spPr>
          <a:xfrm>
            <a:off x="6550675" y="1763150"/>
            <a:ext cx="5211199" cy="44313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sp>
        <p:nvSpPr>
          <p:cNvPr id="242" name="Google Shape;242;p7"/>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Times New Roman"/>
              <a:buNone/>
            </a:pPr>
            <a:r>
              <a:rPr lang="en-US" b="1">
                <a:latin typeface="Times New Roman"/>
                <a:ea typeface="Times New Roman"/>
                <a:cs typeface="Times New Roman"/>
                <a:sym typeface="Times New Roman"/>
              </a:rPr>
              <a:t>Components/Software required</a:t>
            </a:r>
            <a:endParaRPr b="1">
              <a:latin typeface="Times New Roman"/>
              <a:ea typeface="Times New Roman"/>
              <a:cs typeface="Times New Roman"/>
              <a:sym typeface="Times New Roman"/>
            </a:endParaRPr>
          </a:p>
        </p:txBody>
      </p:sp>
      <p:sp>
        <p:nvSpPr>
          <p:cNvPr id="243" name="Google Shape;243;p7"/>
          <p:cNvSpPr txBox="1">
            <a:spLocks noGrp="1"/>
          </p:cNvSpPr>
          <p:nvPr>
            <p:ph idx="1"/>
          </p:nvPr>
        </p:nvSpPr>
        <p:spPr>
          <a:xfrm>
            <a:off x="838200" y="1825625"/>
            <a:ext cx="10405800" cy="43512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800"/>
              <a:buNone/>
            </a:pPr>
            <a:endParaRPr>
              <a:latin typeface="Times"/>
              <a:ea typeface="Times"/>
              <a:cs typeface="Times"/>
              <a:sym typeface="Times"/>
            </a:endParaRPr>
          </a:p>
          <a:p>
            <a:pPr marL="0" lvl="0" indent="0" algn="l" rtl="0">
              <a:lnSpc>
                <a:spcPct val="90000"/>
              </a:lnSpc>
              <a:spcBef>
                <a:spcPts val="0"/>
              </a:spcBef>
              <a:spcAft>
                <a:spcPts val="0"/>
              </a:spcAft>
              <a:buClr>
                <a:schemeClr val="dk1"/>
              </a:buClr>
              <a:buSzPts val="2800"/>
              <a:buNone/>
            </a:pPr>
            <a:endParaRPr>
              <a:latin typeface="Times"/>
              <a:ea typeface="Times"/>
              <a:cs typeface="Times"/>
              <a:sym typeface="Times"/>
            </a:endParaRPr>
          </a:p>
          <a:p>
            <a:pPr marL="457200" lvl="0" indent="-342900" algn="l" rtl="0">
              <a:lnSpc>
                <a:spcPct val="90000"/>
              </a:lnSpc>
              <a:spcBef>
                <a:spcPts val="0"/>
              </a:spcBef>
              <a:spcAft>
                <a:spcPts val="0"/>
              </a:spcAft>
              <a:buSzPts val="1800"/>
              <a:buFont typeface="Times"/>
              <a:buChar char="➢"/>
            </a:pPr>
            <a:r>
              <a:rPr lang="en-US">
                <a:latin typeface="Times"/>
                <a:ea typeface="Times"/>
                <a:cs typeface="Times"/>
                <a:sym typeface="Times"/>
              </a:rPr>
              <a:t>Mathworks Matlab 2021a Tool</a:t>
            </a:r>
            <a:endParaRPr>
              <a:latin typeface="Times"/>
              <a:ea typeface="Times"/>
              <a:cs typeface="Times"/>
              <a:sym typeface="Time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3" name="Google Shape;303;p1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Times New Roman"/>
              <a:buNone/>
            </a:pPr>
            <a:r>
              <a:rPr lang="en-US" b="1">
                <a:latin typeface="Times New Roman"/>
                <a:ea typeface="Times New Roman"/>
                <a:cs typeface="Times New Roman"/>
                <a:sym typeface="Times New Roman"/>
              </a:rPr>
              <a:t>Scope of the project</a:t>
            </a:r>
            <a:endParaRPr b="1">
              <a:latin typeface="Times New Roman"/>
              <a:ea typeface="Times New Roman"/>
              <a:cs typeface="Times New Roman"/>
              <a:sym typeface="Times New Roman"/>
            </a:endParaRPr>
          </a:p>
        </p:txBody>
      </p:sp>
      <p:sp>
        <p:nvSpPr>
          <p:cNvPr id="304" name="Google Shape;304;p14"/>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marL="457200" lvl="0" indent="-393700" algn="just" rtl="0">
              <a:lnSpc>
                <a:spcPct val="115000"/>
              </a:lnSpc>
              <a:spcBef>
                <a:spcPts val="0"/>
              </a:spcBef>
              <a:spcAft>
                <a:spcPts val="0"/>
              </a:spcAft>
              <a:buSzPts val="2600"/>
              <a:buFont typeface="Times New Roman"/>
              <a:buChar char="➢"/>
            </a:pPr>
            <a:r>
              <a:rPr lang="en-US" sz="2600">
                <a:latin typeface="Times New Roman"/>
                <a:ea typeface="Times New Roman"/>
                <a:cs typeface="Times New Roman"/>
                <a:sym typeface="Times New Roman"/>
              </a:rPr>
              <a:t>It is necessary for upcoming wireless communication networks like 5G, 6G  to work with better performance of MIMO - OFDM in order to overcome interference.</a:t>
            </a:r>
            <a:endParaRPr sz="2600">
              <a:latin typeface="Times New Roman"/>
              <a:ea typeface="Times New Roman"/>
              <a:cs typeface="Times New Roman"/>
              <a:sym typeface="Times New Roman"/>
            </a:endParaRPr>
          </a:p>
          <a:p>
            <a:pPr marL="457200" lvl="0" indent="-393700" algn="just" rtl="0">
              <a:lnSpc>
                <a:spcPct val="115000"/>
              </a:lnSpc>
              <a:spcBef>
                <a:spcPts val="0"/>
              </a:spcBef>
              <a:spcAft>
                <a:spcPts val="0"/>
              </a:spcAft>
              <a:buSzPts val="2600"/>
              <a:buFont typeface="Times New Roman"/>
              <a:buChar char="➢"/>
            </a:pPr>
            <a:r>
              <a:rPr lang="en-US" sz="2600">
                <a:latin typeface="Times New Roman"/>
                <a:ea typeface="Times New Roman"/>
                <a:cs typeface="Times New Roman"/>
                <a:sym typeface="Times New Roman"/>
              </a:rPr>
              <a:t>It helps the people to connect online uninterrupted.</a:t>
            </a:r>
            <a:endParaRPr sz="2600">
              <a:latin typeface="Times New Roman"/>
              <a:ea typeface="Times New Roman"/>
              <a:cs typeface="Times New Roman"/>
              <a:sym typeface="Times New Roman"/>
            </a:endParaRPr>
          </a:p>
          <a:p>
            <a:pPr marL="457200" lvl="0" indent="-393700" algn="just" rtl="0">
              <a:lnSpc>
                <a:spcPct val="115000"/>
              </a:lnSpc>
              <a:spcBef>
                <a:spcPts val="0"/>
              </a:spcBef>
              <a:spcAft>
                <a:spcPts val="0"/>
              </a:spcAft>
              <a:buSzPts val="2600"/>
              <a:buFont typeface="Times New Roman"/>
              <a:buChar char="➢"/>
            </a:pPr>
            <a:r>
              <a:rPr lang="en-US" sz="2600">
                <a:latin typeface="Times New Roman"/>
                <a:ea typeface="Times New Roman"/>
                <a:cs typeface="Times New Roman"/>
                <a:sym typeface="Times New Roman"/>
              </a:rPr>
              <a:t>This makes the people get the flow of internet connection.</a:t>
            </a:r>
            <a:endParaRPr sz="2600">
              <a:latin typeface="Times New Roman"/>
              <a:ea typeface="Times New Roman"/>
              <a:cs typeface="Times New Roman"/>
              <a:sym typeface="Times New Roman"/>
            </a:endParaRPr>
          </a:p>
          <a:p>
            <a:pPr marL="457200" lvl="0" indent="-393700" algn="just" rtl="0">
              <a:lnSpc>
                <a:spcPct val="115000"/>
              </a:lnSpc>
              <a:spcBef>
                <a:spcPts val="0"/>
              </a:spcBef>
              <a:spcAft>
                <a:spcPts val="0"/>
              </a:spcAft>
              <a:buSzPts val="2600"/>
              <a:buFont typeface="Times New Roman"/>
              <a:buChar char="➢"/>
            </a:pPr>
            <a:r>
              <a:rPr lang="en-US" sz="2600">
                <a:latin typeface="Times New Roman"/>
                <a:ea typeface="Times New Roman"/>
                <a:cs typeface="Times New Roman"/>
                <a:sym typeface="Times New Roman"/>
              </a:rPr>
              <a:t>It also helps the upcoming technology called “Metaverse”.</a:t>
            </a:r>
            <a:endParaRPr sz="2600">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20"/>
        <p:cNvGrpSpPr/>
        <p:nvPr/>
      </p:nvGrpSpPr>
      <p:grpSpPr>
        <a:xfrm>
          <a:off x="0" y="0"/>
          <a:ext cx="0" cy="0"/>
          <a:chOff x="0" y="0"/>
          <a:chExt cx="0" cy="0"/>
        </a:xfrm>
      </p:grpSpPr>
      <p:sp>
        <p:nvSpPr>
          <p:cNvPr id="321" name="Google Shape;321;p16"/>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Times New Roman"/>
              <a:buNone/>
            </a:pPr>
            <a:r>
              <a:rPr lang="en-US">
                <a:latin typeface="Times New Roman"/>
                <a:ea typeface="Times New Roman"/>
                <a:cs typeface="Times New Roman"/>
                <a:sym typeface="Times New Roman"/>
              </a:rPr>
              <a:t>References </a:t>
            </a:r>
            <a:endParaRPr>
              <a:latin typeface="Times New Roman"/>
              <a:ea typeface="Times New Roman"/>
              <a:cs typeface="Times New Roman"/>
              <a:sym typeface="Times New Roman"/>
            </a:endParaRPr>
          </a:p>
        </p:txBody>
      </p:sp>
      <p:sp>
        <p:nvSpPr>
          <p:cNvPr id="322" name="Google Shape;322;p16"/>
          <p:cNvSpPr txBox="1"/>
          <p:nvPr/>
        </p:nvSpPr>
        <p:spPr>
          <a:xfrm>
            <a:off x="838200" y="964625"/>
            <a:ext cx="10515600" cy="67083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rgbClr val="000000"/>
              </a:buClr>
              <a:buSzPts val="2100"/>
              <a:buFont typeface="Arial"/>
              <a:buNone/>
            </a:pPr>
            <a:endParaRPr sz="2100" b="0" i="0" u="none" strike="noStrike" cap="none">
              <a:solidFill>
                <a:srgbClr val="404040"/>
              </a:solidFill>
              <a:highlight>
                <a:schemeClr val="lt1"/>
              </a:highlight>
              <a:latin typeface="Times"/>
              <a:ea typeface="Times"/>
              <a:cs typeface="Times"/>
              <a:sym typeface="Times"/>
            </a:endParaRPr>
          </a:p>
          <a:p>
            <a:pPr marL="457200" marR="0" lvl="0" indent="-342900" algn="just" rtl="0">
              <a:lnSpc>
                <a:spcPct val="115000"/>
              </a:lnSpc>
              <a:spcBef>
                <a:spcPts val="0"/>
              </a:spcBef>
              <a:spcAft>
                <a:spcPts val="0"/>
              </a:spcAft>
              <a:buClr>
                <a:srgbClr val="404040"/>
              </a:buClr>
              <a:buSzPts val="1800"/>
              <a:buFont typeface="Times"/>
              <a:buAutoNum type="arabicParenR"/>
            </a:pPr>
            <a:r>
              <a:rPr lang="en-US" sz="1800" b="0" i="0" u="none" strike="noStrike" cap="none">
                <a:solidFill>
                  <a:srgbClr val="404040"/>
                </a:solidFill>
                <a:highlight>
                  <a:schemeClr val="lt1"/>
                </a:highlight>
                <a:latin typeface="Times"/>
                <a:ea typeface="Times"/>
                <a:cs typeface="Times"/>
                <a:sym typeface="Times"/>
              </a:rPr>
              <a:t>Bagadi, K. P., &amp; Das, S. (2010). MIMO-OFDM channel estimation using pilot carries. International Journal of Computer Applications, 2(3).</a:t>
            </a:r>
            <a:endParaRPr sz="1800" b="0" i="0" u="none" strike="noStrike" cap="none">
              <a:solidFill>
                <a:srgbClr val="404040"/>
              </a:solidFill>
              <a:highlight>
                <a:schemeClr val="lt1"/>
              </a:highlight>
              <a:latin typeface="Times"/>
              <a:ea typeface="Times"/>
              <a:cs typeface="Times"/>
              <a:sym typeface="Times"/>
            </a:endParaRPr>
          </a:p>
          <a:p>
            <a:pPr marL="457200" marR="0" lvl="0" indent="-342900" algn="just" rtl="0">
              <a:lnSpc>
                <a:spcPct val="115000"/>
              </a:lnSpc>
              <a:spcBef>
                <a:spcPts val="0"/>
              </a:spcBef>
              <a:spcAft>
                <a:spcPts val="0"/>
              </a:spcAft>
              <a:buClr>
                <a:srgbClr val="404040"/>
              </a:buClr>
              <a:buSzPts val="1800"/>
              <a:buFont typeface="Times"/>
              <a:buAutoNum type="arabicParenR"/>
            </a:pPr>
            <a:r>
              <a:rPr lang="en-US" sz="1800" b="0" i="0" u="none" strike="noStrike" cap="none">
                <a:solidFill>
                  <a:srgbClr val="404040"/>
                </a:solidFill>
                <a:highlight>
                  <a:schemeClr val="lt1"/>
                </a:highlight>
                <a:latin typeface="Times"/>
                <a:ea typeface="Times"/>
                <a:cs typeface="Times"/>
                <a:sym typeface="Times"/>
              </a:rPr>
              <a:t>R. S. Ganesh, J. Jayakumari and I. P. Akhila, "Channel estimation analysis in MIMO-OFDM wireless systems," (2011) International Conference on Signal Processing, Communication, Computing and Networking Technologies, Thuckalay, India, 2011, pp. 399-403, </a:t>
            </a:r>
            <a:endParaRPr sz="1800" b="0" i="0" u="none" strike="noStrike" cap="none">
              <a:solidFill>
                <a:srgbClr val="404040"/>
              </a:solidFill>
              <a:highlight>
                <a:schemeClr val="lt1"/>
              </a:highlight>
              <a:latin typeface="Times"/>
              <a:ea typeface="Times"/>
              <a:cs typeface="Times"/>
              <a:sym typeface="Times"/>
            </a:endParaRPr>
          </a:p>
          <a:p>
            <a:pPr marL="457200" marR="0" lvl="0" indent="0" algn="just" rtl="0">
              <a:lnSpc>
                <a:spcPct val="115000"/>
              </a:lnSpc>
              <a:spcBef>
                <a:spcPts val="0"/>
              </a:spcBef>
              <a:spcAft>
                <a:spcPts val="0"/>
              </a:spcAft>
              <a:buClr>
                <a:srgbClr val="000000"/>
              </a:buClr>
              <a:buSzPts val="1800"/>
              <a:buFont typeface="Arial"/>
              <a:buNone/>
            </a:pPr>
            <a:r>
              <a:rPr lang="en-US" sz="1800" b="0" i="0" u="none" strike="noStrike" cap="none">
                <a:solidFill>
                  <a:srgbClr val="404040"/>
                </a:solidFill>
                <a:highlight>
                  <a:schemeClr val="lt1"/>
                </a:highlight>
                <a:latin typeface="Times"/>
                <a:ea typeface="Times"/>
                <a:cs typeface="Times"/>
                <a:sym typeface="Times"/>
              </a:rPr>
              <a:t>doi: 10.1109/ICSCCN.2011.6024583.</a:t>
            </a:r>
            <a:endParaRPr sz="1800" b="0" i="0" u="none" strike="noStrike" cap="none">
              <a:solidFill>
                <a:srgbClr val="404040"/>
              </a:solidFill>
              <a:highlight>
                <a:schemeClr val="lt1"/>
              </a:highlight>
              <a:latin typeface="Times"/>
              <a:ea typeface="Times"/>
              <a:cs typeface="Times"/>
              <a:sym typeface="Times"/>
            </a:endParaRPr>
          </a:p>
          <a:p>
            <a:pPr marL="457200" marR="0" lvl="0" indent="-342900" algn="just" rtl="0">
              <a:lnSpc>
                <a:spcPct val="115000"/>
              </a:lnSpc>
              <a:spcBef>
                <a:spcPts val="0"/>
              </a:spcBef>
              <a:spcAft>
                <a:spcPts val="0"/>
              </a:spcAft>
              <a:buClr>
                <a:srgbClr val="404040"/>
              </a:buClr>
              <a:buSzPts val="1800"/>
              <a:buFont typeface="Times"/>
              <a:buAutoNum type="arabicParenR"/>
            </a:pPr>
            <a:r>
              <a:rPr lang="en-US" sz="1800" b="0" i="0" u="none" strike="noStrike" cap="none">
                <a:solidFill>
                  <a:srgbClr val="333333"/>
                </a:solidFill>
                <a:highlight>
                  <a:schemeClr val="lt1"/>
                </a:highlight>
                <a:latin typeface="Times"/>
                <a:ea typeface="Times"/>
                <a:cs typeface="Times"/>
                <a:sym typeface="Times"/>
              </a:rPr>
              <a:t>Suzi Seroja Sarnin, Siti Maisurah Sulong, "Performance of channel estimation based on DD-EW RLS and NLMS for outdoor MIMO OFDM system", </a:t>
            </a:r>
            <a:r>
              <a:rPr lang="en-US" sz="1800" b="0" i="1" u="none" strike="noStrike" cap="none">
                <a:solidFill>
                  <a:srgbClr val="333333"/>
                </a:solidFill>
                <a:highlight>
                  <a:schemeClr val="lt1"/>
                </a:highlight>
                <a:latin typeface="Times"/>
                <a:ea typeface="Times"/>
                <a:cs typeface="Times"/>
                <a:sym typeface="Times"/>
              </a:rPr>
              <a:t>2014 IEEE Conference on Systems, Process and Control (ICSPC 2014)</a:t>
            </a:r>
            <a:r>
              <a:rPr lang="en-US" sz="1800" b="0" i="0" u="none" strike="noStrike" cap="none">
                <a:solidFill>
                  <a:srgbClr val="333333"/>
                </a:solidFill>
                <a:highlight>
                  <a:schemeClr val="lt1"/>
                </a:highlight>
                <a:latin typeface="Times"/>
                <a:ea typeface="Times"/>
                <a:cs typeface="Times"/>
                <a:sym typeface="Times"/>
              </a:rPr>
              <a:t>, pp.90-95, (2014).</a:t>
            </a:r>
            <a:endParaRPr sz="1800" b="0" i="0" u="none" strike="noStrike" cap="none">
              <a:solidFill>
                <a:srgbClr val="404040"/>
              </a:solidFill>
              <a:highlight>
                <a:schemeClr val="lt1"/>
              </a:highlight>
              <a:latin typeface="Times"/>
              <a:ea typeface="Times"/>
              <a:cs typeface="Times"/>
              <a:sym typeface="Times"/>
            </a:endParaRPr>
          </a:p>
          <a:p>
            <a:pPr marL="457200" marR="0" lvl="0" indent="-342900" algn="just" rtl="0">
              <a:lnSpc>
                <a:spcPct val="115000"/>
              </a:lnSpc>
              <a:spcBef>
                <a:spcPts val="0"/>
              </a:spcBef>
              <a:spcAft>
                <a:spcPts val="0"/>
              </a:spcAft>
              <a:buClr>
                <a:srgbClr val="404040"/>
              </a:buClr>
              <a:buSzPts val="1800"/>
              <a:buFont typeface="Times"/>
              <a:buAutoNum type="arabicParenR"/>
            </a:pPr>
            <a:r>
              <a:rPr lang="en-US" sz="1800" b="0" i="0" u="none" strike="noStrike" cap="none">
                <a:solidFill>
                  <a:srgbClr val="404040"/>
                </a:solidFill>
                <a:highlight>
                  <a:schemeClr val="lt1"/>
                </a:highlight>
                <a:latin typeface="Times"/>
                <a:ea typeface="Times"/>
                <a:cs typeface="Times"/>
                <a:sym typeface="Times"/>
              </a:rPr>
              <a:t>J. A. Sam and A. K. Nair, "Analysis and implementation of channel estimation in OFDM system using pilot symbols," (2016) International Conference on Control, Instrumentation, Communication and Computational Technologies (ICCICCT), Kumaracoil, India, 2016, pp. 725-728, </a:t>
            </a:r>
            <a:endParaRPr sz="1800" b="0" i="0" u="none" strike="noStrike" cap="none">
              <a:solidFill>
                <a:srgbClr val="404040"/>
              </a:solidFill>
              <a:highlight>
                <a:schemeClr val="lt1"/>
              </a:highlight>
              <a:latin typeface="Times"/>
              <a:ea typeface="Times"/>
              <a:cs typeface="Times"/>
              <a:sym typeface="Times"/>
            </a:endParaRPr>
          </a:p>
          <a:p>
            <a:pPr marL="457200" marR="0" lvl="0" indent="0" algn="just" rtl="0">
              <a:lnSpc>
                <a:spcPct val="115000"/>
              </a:lnSpc>
              <a:spcBef>
                <a:spcPts val="0"/>
              </a:spcBef>
              <a:spcAft>
                <a:spcPts val="0"/>
              </a:spcAft>
              <a:buClr>
                <a:srgbClr val="000000"/>
              </a:buClr>
              <a:buSzPts val="1800"/>
              <a:buFont typeface="Arial"/>
              <a:buNone/>
            </a:pPr>
            <a:r>
              <a:rPr lang="en-US" sz="1800" b="0" i="0" u="none" strike="noStrike" cap="none">
                <a:solidFill>
                  <a:srgbClr val="404040"/>
                </a:solidFill>
                <a:highlight>
                  <a:schemeClr val="lt1"/>
                </a:highlight>
                <a:latin typeface="Times"/>
                <a:ea typeface="Times"/>
                <a:cs typeface="Times"/>
                <a:sym typeface="Times"/>
              </a:rPr>
              <a:t>doi: 10.1109/ICCICCT.2016.7988047.</a:t>
            </a:r>
            <a:endParaRPr sz="1800" b="0" i="0" u="none" strike="noStrike" cap="none">
              <a:solidFill>
                <a:srgbClr val="404040"/>
              </a:solidFill>
              <a:highlight>
                <a:schemeClr val="lt1"/>
              </a:highlight>
              <a:latin typeface="Times"/>
              <a:ea typeface="Times"/>
              <a:cs typeface="Times"/>
              <a:sym typeface="Times"/>
            </a:endParaRPr>
          </a:p>
          <a:p>
            <a:pPr marL="457200" marR="0" lvl="0" indent="-342900" algn="just" rtl="0">
              <a:lnSpc>
                <a:spcPct val="115000"/>
              </a:lnSpc>
              <a:spcBef>
                <a:spcPts val="0"/>
              </a:spcBef>
              <a:spcAft>
                <a:spcPts val="0"/>
              </a:spcAft>
              <a:buClr>
                <a:srgbClr val="404040"/>
              </a:buClr>
              <a:buSzPts val="1800"/>
              <a:buFont typeface="Times"/>
              <a:buAutoNum type="arabicParenR"/>
            </a:pPr>
            <a:r>
              <a:rPr lang="en-US" sz="1800" b="0" i="0" u="none" strike="noStrike" cap="none">
                <a:solidFill>
                  <a:srgbClr val="222222"/>
                </a:solidFill>
                <a:highlight>
                  <a:srgbClr val="FFFFFF"/>
                </a:highlight>
                <a:latin typeface="Times"/>
                <a:ea typeface="Times"/>
                <a:cs typeface="Times"/>
                <a:sym typeface="Times"/>
              </a:rPr>
              <a:t>Azizipour MJ, Mohamed‐Pour K. Compressed channel estimation for FDD massive MIMO systems without prior knowledge of sparse channel model. IET Communications. (2019) Apr;13(6):657-63.</a:t>
            </a:r>
            <a:endParaRPr sz="1800" b="0" i="0" u="none" strike="noStrike" cap="none">
              <a:solidFill>
                <a:srgbClr val="222222"/>
              </a:solidFill>
              <a:highlight>
                <a:srgbClr val="FFFFFF"/>
              </a:highlight>
              <a:latin typeface="Times"/>
              <a:ea typeface="Times"/>
              <a:cs typeface="Times"/>
              <a:sym typeface="Times"/>
            </a:endParaRPr>
          </a:p>
          <a:p>
            <a:pPr marL="0" marR="0" lvl="0" indent="0" algn="just" rtl="0">
              <a:lnSpc>
                <a:spcPct val="115000"/>
              </a:lnSpc>
              <a:spcBef>
                <a:spcPts val="0"/>
              </a:spcBef>
              <a:spcAft>
                <a:spcPts val="0"/>
              </a:spcAft>
              <a:buClr>
                <a:srgbClr val="000000"/>
              </a:buClr>
              <a:buSzPts val="1800"/>
              <a:buFont typeface="Arial"/>
              <a:buNone/>
            </a:pPr>
            <a:endParaRPr sz="1800" b="0" i="0" u="none" strike="noStrike" cap="none">
              <a:solidFill>
                <a:srgbClr val="222222"/>
              </a:solidFill>
              <a:highlight>
                <a:srgbClr val="FFFFFF"/>
              </a:highlight>
              <a:latin typeface="Times"/>
              <a:ea typeface="Times"/>
              <a:cs typeface="Times"/>
              <a:sym typeface="Times"/>
            </a:endParaRPr>
          </a:p>
          <a:p>
            <a:pPr marL="0" marR="0" lvl="0" indent="0" algn="l" rtl="0">
              <a:lnSpc>
                <a:spcPct val="90000"/>
              </a:lnSpc>
              <a:spcBef>
                <a:spcPts val="1000"/>
              </a:spcBef>
              <a:spcAft>
                <a:spcPts val="0"/>
              </a:spcAft>
              <a:buClr>
                <a:schemeClr val="dk1"/>
              </a:buClr>
              <a:buSzPts val="2800"/>
              <a:buFont typeface="Arial"/>
              <a:buNone/>
            </a:pPr>
            <a:endParaRPr sz="2100" b="0" i="0" u="none" strike="noStrike" cap="none">
              <a:solidFill>
                <a:schemeClr val="dk1"/>
              </a:solidFill>
              <a:latin typeface="Times"/>
              <a:ea typeface="Times"/>
              <a:cs typeface="Times"/>
              <a:sym typeface="Times"/>
            </a:endParaRPr>
          </a:p>
          <a:p>
            <a:pPr marL="0" marR="0" lvl="0" indent="0" algn="l" rtl="0">
              <a:lnSpc>
                <a:spcPct val="90000"/>
              </a:lnSpc>
              <a:spcBef>
                <a:spcPts val="1000"/>
              </a:spcBef>
              <a:spcAft>
                <a:spcPts val="0"/>
              </a:spcAft>
              <a:buClr>
                <a:schemeClr val="dk1"/>
              </a:buClr>
              <a:buSzPts val="2800"/>
              <a:buFont typeface="Arial"/>
              <a:buNone/>
            </a:pPr>
            <a:endParaRPr sz="2100" b="0" i="0" u="none" strike="noStrike" cap="none">
              <a:solidFill>
                <a:srgbClr val="000000"/>
              </a:solidFill>
              <a:latin typeface="Times"/>
              <a:ea typeface="Times"/>
              <a:cs typeface="Times"/>
              <a:sym typeface="Times"/>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26"/>
        <p:cNvGrpSpPr/>
        <p:nvPr/>
      </p:nvGrpSpPr>
      <p:grpSpPr>
        <a:xfrm>
          <a:off x="0" y="0"/>
          <a:ext cx="0" cy="0"/>
          <a:chOff x="0" y="0"/>
          <a:chExt cx="0" cy="0"/>
        </a:xfrm>
      </p:grpSpPr>
      <p:sp>
        <p:nvSpPr>
          <p:cNvPr id="327" name="Google Shape;327;g1f297761b71_0_0"/>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Times New Roman"/>
              <a:buNone/>
            </a:pPr>
            <a:r>
              <a:rPr lang="en-US">
                <a:latin typeface="Times New Roman"/>
                <a:ea typeface="Times New Roman"/>
                <a:cs typeface="Times New Roman"/>
                <a:sym typeface="Times New Roman"/>
              </a:rPr>
              <a:t>References </a:t>
            </a:r>
            <a:endParaRPr>
              <a:latin typeface="Times New Roman"/>
              <a:ea typeface="Times New Roman"/>
              <a:cs typeface="Times New Roman"/>
              <a:sym typeface="Times New Roman"/>
            </a:endParaRPr>
          </a:p>
        </p:txBody>
      </p:sp>
      <p:sp>
        <p:nvSpPr>
          <p:cNvPr id="328" name="Google Shape;328;g1f297761b71_0_0"/>
          <p:cNvSpPr txBox="1"/>
          <p:nvPr/>
        </p:nvSpPr>
        <p:spPr>
          <a:xfrm>
            <a:off x="844050" y="1582625"/>
            <a:ext cx="10515600" cy="6018000"/>
          </a:xfrm>
          <a:prstGeom prst="rect">
            <a:avLst/>
          </a:prstGeom>
          <a:noFill/>
          <a:ln>
            <a:noFill/>
          </a:ln>
        </p:spPr>
        <p:txBody>
          <a:bodyPr spcFirstLastPara="1" wrap="square" lIns="91425" tIns="91425" rIns="91425" bIns="91425" anchor="t" anchorCtr="0">
            <a:spAutoFit/>
          </a:bodyPr>
          <a:lstStyle/>
          <a:p>
            <a:pPr marL="457200" marR="0" lvl="0" indent="-342900" algn="just" rtl="0">
              <a:lnSpc>
                <a:spcPct val="115000"/>
              </a:lnSpc>
              <a:spcBef>
                <a:spcPts val="0"/>
              </a:spcBef>
              <a:spcAft>
                <a:spcPts val="0"/>
              </a:spcAft>
              <a:buClr>
                <a:srgbClr val="404040"/>
              </a:buClr>
              <a:buSzPts val="1800"/>
              <a:buFont typeface="Times"/>
              <a:buAutoNum type="arabicParenR" startAt="6"/>
            </a:pPr>
            <a:r>
              <a:rPr lang="en-US" sz="1800" b="0" i="0" u="none" strike="noStrike" cap="none">
                <a:solidFill>
                  <a:srgbClr val="222222"/>
                </a:solidFill>
                <a:highlight>
                  <a:schemeClr val="lt1"/>
                </a:highlight>
                <a:latin typeface="Times"/>
                <a:ea typeface="Times"/>
                <a:cs typeface="Times"/>
                <a:sym typeface="Times"/>
              </a:rPr>
              <a:t>Mário Marques da Silva, Rui Dinis, and João Guerreiro. "Implicit Pilots for an Efficient Channel Estimation in Simplified Massive MIMO Schemes with Precoding." EURASIP Journal on Wireless Communications and Networking 2019, no. 1 (2019): 27. doi: 10.1186/s13638-018-1306-4.</a:t>
            </a:r>
            <a:endParaRPr sz="1800" b="0" i="0" u="none" strike="noStrike" cap="none">
              <a:solidFill>
                <a:schemeClr val="dk1"/>
              </a:solidFill>
              <a:latin typeface="Times"/>
              <a:ea typeface="Times"/>
              <a:cs typeface="Times"/>
              <a:sym typeface="Times"/>
            </a:endParaRPr>
          </a:p>
          <a:p>
            <a:pPr marL="457200" marR="0" lvl="0" indent="-342900" algn="just" rtl="0">
              <a:lnSpc>
                <a:spcPct val="115000"/>
              </a:lnSpc>
              <a:spcBef>
                <a:spcPts val="0"/>
              </a:spcBef>
              <a:spcAft>
                <a:spcPts val="0"/>
              </a:spcAft>
              <a:buClr>
                <a:srgbClr val="404040"/>
              </a:buClr>
              <a:buSzPts val="1800"/>
              <a:buFont typeface="Times"/>
              <a:buAutoNum type="arabicParenR" startAt="6"/>
            </a:pPr>
            <a:r>
              <a:rPr lang="en-US" sz="1800" b="0" i="0" u="none" strike="noStrike" cap="none">
                <a:solidFill>
                  <a:schemeClr val="dk1"/>
                </a:solidFill>
                <a:latin typeface="Times"/>
                <a:ea typeface="Times"/>
                <a:cs typeface="Times"/>
                <a:sym typeface="Times"/>
              </a:rPr>
              <a:t>Mário Marques da Silva, Rui Dinis and João Guerreiro,(2020)A Low Complexity Channel Estimation and Detection for Massive MIMO Using SC-FDE, Instituto de Telecomunicações, 1049-001 Lisboa, Portugal, 24 January 2020; Accepted: 9 March 2020; Published: 14 March 2020.</a:t>
            </a:r>
            <a:endParaRPr sz="1800" b="0" i="0" u="none" strike="noStrike" cap="none">
              <a:solidFill>
                <a:schemeClr val="dk1"/>
              </a:solidFill>
              <a:latin typeface="Times"/>
              <a:ea typeface="Times"/>
              <a:cs typeface="Times"/>
              <a:sym typeface="Times"/>
            </a:endParaRPr>
          </a:p>
          <a:p>
            <a:pPr marL="457200" marR="0" lvl="0" indent="-342900" algn="just" rtl="0">
              <a:lnSpc>
                <a:spcPct val="115000"/>
              </a:lnSpc>
              <a:spcBef>
                <a:spcPts val="0"/>
              </a:spcBef>
              <a:spcAft>
                <a:spcPts val="0"/>
              </a:spcAft>
              <a:buClr>
                <a:schemeClr val="dk1"/>
              </a:buClr>
              <a:buSzPts val="1800"/>
              <a:buFont typeface="Times"/>
              <a:buAutoNum type="arabicParenR" startAt="6"/>
            </a:pPr>
            <a:r>
              <a:rPr lang="en-US" sz="1800" b="0" i="0" u="none" strike="noStrike" cap="none">
                <a:solidFill>
                  <a:schemeClr val="dk1"/>
                </a:solidFill>
                <a:latin typeface="Times"/>
                <a:ea typeface="Times"/>
                <a:cs typeface="Times"/>
                <a:sym typeface="Times"/>
              </a:rPr>
              <a:t>Carrera, D. F., Vargas-Rosales, C., Azpilicueta, L., &amp; Galaviz-Aguilar, J. A. (2020). Comparative study of channel estimators for massive MIMO 5G NR systems. IET Communications, 14(12), 2009-2017.</a:t>
            </a:r>
            <a:endParaRPr sz="1800" b="0" i="0" u="none" strike="noStrike" cap="none">
              <a:solidFill>
                <a:schemeClr val="dk1"/>
              </a:solidFill>
              <a:latin typeface="Times"/>
              <a:ea typeface="Times"/>
              <a:cs typeface="Times"/>
              <a:sym typeface="Times"/>
            </a:endParaRPr>
          </a:p>
          <a:p>
            <a:pPr marL="457200" marR="0" lvl="0" indent="-342900" algn="just" rtl="0">
              <a:lnSpc>
                <a:spcPct val="115000"/>
              </a:lnSpc>
              <a:spcBef>
                <a:spcPts val="0"/>
              </a:spcBef>
              <a:spcAft>
                <a:spcPts val="0"/>
              </a:spcAft>
              <a:buClr>
                <a:schemeClr val="dk1"/>
              </a:buClr>
              <a:buSzPts val="1800"/>
              <a:buFont typeface="Times"/>
              <a:buAutoNum type="arabicParenR" startAt="6"/>
            </a:pPr>
            <a:r>
              <a:rPr lang="en-US" sz="1800" b="0" i="0" u="none" strike="noStrike" cap="none">
                <a:solidFill>
                  <a:schemeClr val="dk1"/>
                </a:solidFill>
                <a:latin typeface="Times"/>
                <a:ea typeface="Times"/>
                <a:cs typeface="Times"/>
                <a:sym typeface="Times"/>
              </a:rPr>
              <a:t>Zhang, Z., Zheng, Y., Gan, C., &amp; Zhu, Q. (2020). Massive MIMO CSI reconstruction using CNN-LSTM and attention mechanism. IET Communications, 14(14), 2279-2286. </a:t>
            </a:r>
            <a:endParaRPr sz="1800" b="0" i="0" u="none" strike="noStrike" cap="none">
              <a:solidFill>
                <a:schemeClr val="dk1"/>
              </a:solidFill>
              <a:latin typeface="Times"/>
              <a:ea typeface="Times"/>
              <a:cs typeface="Times"/>
              <a:sym typeface="Times"/>
            </a:endParaRPr>
          </a:p>
          <a:p>
            <a:pPr marL="457200" marR="0" lvl="0" indent="-342900" algn="just" rtl="0">
              <a:lnSpc>
                <a:spcPct val="115000"/>
              </a:lnSpc>
              <a:spcBef>
                <a:spcPts val="0"/>
              </a:spcBef>
              <a:spcAft>
                <a:spcPts val="0"/>
              </a:spcAft>
              <a:buClr>
                <a:schemeClr val="dk1"/>
              </a:buClr>
              <a:buSzPts val="1800"/>
              <a:buFont typeface="Times"/>
              <a:buAutoNum type="arabicParenR" startAt="6"/>
            </a:pPr>
            <a:r>
              <a:rPr lang="en-US" sz="1800" b="0" i="0" u="none" strike="noStrike" cap="none">
                <a:solidFill>
                  <a:schemeClr val="dk1"/>
                </a:solidFill>
                <a:latin typeface="Times"/>
                <a:ea typeface="Times"/>
                <a:cs typeface="Times"/>
                <a:sym typeface="Times"/>
              </a:rPr>
              <a:t>Saraereh, O. A., Khan, I., Alsafasfeh, Q., Alemaishat, S., &amp; Kim, S. (2020). Low-Complexity Channel Estimation in 5G Massive MIMO-OFDM Systems. Electronics, 9(4), 559. </a:t>
            </a:r>
            <a:endParaRPr sz="1800" b="0" i="0" u="none" strike="noStrike" cap="none">
              <a:solidFill>
                <a:schemeClr val="dk1"/>
              </a:solidFill>
              <a:latin typeface="Times"/>
              <a:ea typeface="Times"/>
              <a:cs typeface="Times"/>
              <a:sym typeface="Times"/>
            </a:endParaRPr>
          </a:p>
          <a:p>
            <a:pPr marL="457200" marR="0" lvl="0" indent="-342900" algn="just" rtl="0">
              <a:lnSpc>
                <a:spcPct val="115000"/>
              </a:lnSpc>
              <a:spcBef>
                <a:spcPts val="0"/>
              </a:spcBef>
              <a:spcAft>
                <a:spcPts val="0"/>
              </a:spcAft>
              <a:buClr>
                <a:schemeClr val="dk1"/>
              </a:buClr>
              <a:buSzPts val="1800"/>
              <a:buFont typeface="Times"/>
              <a:buAutoNum type="arabicParenR" startAt="6"/>
            </a:pPr>
            <a:r>
              <a:rPr lang="en-US" sz="1800" b="0" i="0" u="none" strike="noStrike" cap="none">
                <a:solidFill>
                  <a:schemeClr val="dk1"/>
                </a:solidFill>
                <a:latin typeface="Times"/>
                <a:ea typeface="Times"/>
                <a:cs typeface="Times"/>
                <a:sym typeface="Times"/>
              </a:rPr>
              <a:t>Immanuvel, A., Arulanantham, D., Kumarganesh, S., &amp; Saranya, S. (2020). Performance analysis of channel estimator with interference detection architecture. International Journal of Electrical and Computer Engineering (IJECE), 10(6), 6576-6585. </a:t>
            </a:r>
            <a:endParaRPr sz="2100" b="0" i="0" u="none" strike="noStrike" cap="none">
              <a:solidFill>
                <a:schemeClr val="dk1"/>
              </a:solidFill>
              <a:latin typeface="Times"/>
              <a:ea typeface="Times"/>
              <a:cs typeface="Times"/>
              <a:sym typeface="Times"/>
            </a:endParaRPr>
          </a:p>
          <a:p>
            <a:pPr marL="0" marR="0" lvl="0" indent="0" algn="l" rtl="0">
              <a:lnSpc>
                <a:spcPct val="90000"/>
              </a:lnSpc>
              <a:spcBef>
                <a:spcPts val="1000"/>
              </a:spcBef>
              <a:spcAft>
                <a:spcPts val="0"/>
              </a:spcAft>
              <a:buClr>
                <a:schemeClr val="dk1"/>
              </a:buClr>
              <a:buSzPts val="2800"/>
              <a:buFont typeface="Arial"/>
              <a:buNone/>
            </a:pPr>
            <a:endParaRPr sz="2100" b="0" i="0" u="none" strike="noStrike" cap="none">
              <a:solidFill>
                <a:schemeClr val="dk1"/>
              </a:solidFill>
              <a:latin typeface="Times"/>
              <a:ea typeface="Times"/>
              <a:cs typeface="Times"/>
              <a:sym typeface="Times"/>
            </a:endParaRPr>
          </a:p>
          <a:p>
            <a:pPr marL="0" marR="0" lvl="0" indent="0" algn="l" rtl="0">
              <a:lnSpc>
                <a:spcPct val="90000"/>
              </a:lnSpc>
              <a:spcBef>
                <a:spcPts val="1000"/>
              </a:spcBef>
              <a:spcAft>
                <a:spcPts val="0"/>
              </a:spcAft>
              <a:buClr>
                <a:schemeClr val="dk1"/>
              </a:buClr>
              <a:buSzPts val="2800"/>
              <a:buFont typeface="Arial"/>
              <a:buNone/>
            </a:pPr>
            <a:endParaRPr sz="2100" b="0" i="0" u="none" strike="noStrike" cap="none">
              <a:solidFill>
                <a:srgbClr val="000000"/>
              </a:solidFill>
              <a:latin typeface="Times"/>
              <a:ea typeface="Times"/>
              <a:cs typeface="Times"/>
              <a:sym typeface="Times"/>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32"/>
        <p:cNvGrpSpPr/>
        <p:nvPr/>
      </p:nvGrpSpPr>
      <p:grpSpPr>
        <a:xfrm>
          <a:off x="0" y="0"/>
          <a:ext cx="0" cy="0"/>
          <a:chOff x="0" y="0"/>
          <a:chExt cx="0" cy="0"/>
        </a:xfrm>
      </p:grpSpPr>
      <p:sp>
        <p:nvSpPr>
          <p:cNvPr id="333" name="Google Shape;333;g20fdf25b392_0_6"/>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Times New Roman"/>
              <a:buNone/>
            </a:pPr>
            <a:r>
              <a:rPr lang="en-US">
                <a:latin typeface="Times New Roman"/>
                <a:ea typeface="Times New Roman"/>
                <a:cs typeface="Times New Roman"/>
                <a:sym typeface="Times New Roman"/>
              </a:rPr>
              <a:t>References </a:t>
            </a:r>
            <a:endParaRPr>
              <a:latin typeface="Times New Roman"/>
              <a:ea typeface="Times New Roman"/>
              <a:cs typeface="Times New Roman"/>
              <a:sym typeface="Times New Roman"/>
            </a:endParaRPr>
          </a:p>
        </p:txBody>
      </p:sp>
      <p:sp>
        <p:nvSpPr>
          <p:cNvPr id="334" name="Google Shape;334;g20fdf25b392_0_6"/>
          <p:cNvSpPr txBox="1"/>
          <p:nvPr/>
        </p:nvSpPr>
        <p:spPr>
          <a:xfrm>
            <a:off x="844050" y="1582625"/>
            <a:ext cx="10515600" cy="54690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2000"/>
              <a:buFont typeface="Arial"/>
              <a:buNone/>
            </a:pPr>
            <a:endParaRPr sz="2000" b="0" i="0" u="none" strike="noStrike" cap="none">
              <a:solidFill>
                <a:schemeClr val="dk1"/>
              </a:solidFill>
              <a:latin typeface="Times"/>
              <a:ea typeface="Times"/>
              <a:cs typeface="Times"/>
              <a:sym typeface="Times"/>
            </a:endParaRPr>
          </a:p>
          <a:p>
            <a:pPr marL="457200" marR="0" lvl="0" indent="-330200" algn="just" rtl="0">
              <a:lnSpc>
                <a:spcPct val="115000"/>
              </a:lnSpc>
              <a:spcBef>
                <a:spcPts val="0"/>
              </a:spcBef>
              <a:spcAft>
                <a:spcPts val="0"/>
              </a:spcAft>
              <a:buClr>
                <a:schemeClr val="dk1"/>
              </a:buClr>
              <a:buSzPts val="1600"/>
              <a:buFont typeface="Times"/>
              <a:buAutoNum type="arabicParenR" startAt="12"/>
            </a:pPr>
            <a:r>
              <a:rPr lang="en-US" sz="1800" b="0" i="0" u="none" strike="noStrike" cap="none">
                <a:solidFill>
                  <a:schemeClr val="dk1"/>
                </a:solidFill>
                <a:latin typeface="Times"/>
                <a:ea typeface="Times"/>
                <a:cs typeface="Times"/>
                <a:sym typeface="Times"/>
              </a:rPr>
              <a:t>Lemayian, J. P., &amp; Hamamreh, J. M. (2021). Massive MIMO Channel Prediction Using Recurrent Neural Networks. IEEE Access, 9, 135754-135764. </a:t>
            </a:r>
            <a:endParaRPr sz="1800" b="0" i="0" u="none" strike="noStrike" cap="none">
              <a:solidFill>
                <a:schemeClr val="dk1"/>
              </a:solidFill>
              <a:latin typeface="Times"/>
              <a:ea typeface="Times"/>
              <a:cs typeface="Times"/>
              <a:sym typeface="Times"/>
            </a:endParaRPr>
          </a:p>
          <a:p>
            <a:pPr marL="457200" marR="0" lvl="0" indent="-342900" algn="just" rtl="0">
              <a:lnSpc>
                <a:spcPct val="115000"/>
              </a:lnSpc>
              <a:spcBef>
                <a:spcPts val="0"/>
              </a:spcBef>
              <a:spcAft>
                <a:spcPts val="0"/>
              </a:spcAft>
              <a:buClr>
                <a:schemeClr val="dk1"/>
              </a:buClr>
              <a:buSzPts val="1800"/>
              <a:buFont typeface="Times"/>
              <a:buAutoNum type="arabicParenR" startAt="12"/>
            </a:pPr>
            <a:r>
              <a:rPr lang="en-US" sz="1800" b="0" i="0" u="none" strike="noStrike" cap="none">
                <a:solidFill>
                  <a:schemeClr val="dk1"/>
                </a:solidFill>
                <a:latin typeface="Times"/>
                <a:ea typeface="Times"/>
                <a:cs typeface="Times"/>
                <a:sym typeface="Times"/>
              </a:rPr>
              <a:t>Kumar, M. R., Prasanna, J. L., Alagarsamy, A., Pravallika, T. M., Jyothsna, K., Sindhuja, P. H., &amp; Santhosh, C. (2022). Estimation of bit error rate in 2×2 and 4×4 multi-input multi-output-orthogonal frequency division multiplexing systems. International Journal of Recent Technology and Engineering, 9(3), 5298-5304.</a:t>
            </a:r>
            <a:endParaRPr sz="1800" b="0" i="0" u="none" strike="noStrike" cap="none">
              <a:solidFill>
                <a:schemeClr val="dk1"/>
              </a:solidFill>
              <a:latin typeface="Times"/>
              <a:ea typeface="Times"/>
              <a:cs typeface="Times"/>
              <a:sym typeface="Times"/>
            </a:endParaRPr>
          </a:p>
          <a:p>
            <a:pPr marL="457200" marR="0" lvl="0" indent="-342900" algn="just" rtl="0">
              <a:lnSpc>
                <a:spcPct val="115000"/>
              </a:lnSpc>
              <a:spcBef>
                <a:spcPts val="0"/>
              </a:spcBef>
              <a:spcAft>
                <a:spcPts val="0"/>
              </a:spcAft>
              <a:buClr>
                <a:schemeClr val="dk1"/>
              </a:buClr>
              <a:buSzPts val="1800"/>
              <a:buFont typeface="Times"/>
              <a:buAutoNum type="arabicParenR" startAt="12"/>
            </a:pPr>
            <a:r>
              <a:rPr lang="en-US" sz="1800" b="0" i="0" u="none" strike="noStrike" cap="none">
                <a:solidFill>
                  <a:schemeClr val="dk1"/>
                </a:solidFill>
                <a:latin typeface="Times"/>
                <a:ea typeface="Times"/>
                <a:cs typeface="Times"/>
                <a:sym typeface="Times"/>
              </a:rPr>
              <a:t>Yan, L., Wang, Y., &amp; Zheng, N. (2022). 5G Massive MIMO Signal Detection Algorithm Based on Deep Learning. Wireless Communications and Mobile Computing, 2022, 1-11. </a:t>
            </a:r>
            <a:endParaRPr sz="1800" b="0" i="0" u="none" strike="noStrike" cap="none">
              <a:solidFill>
                <a:schemeClr val="dk1"/>
              </a:solidFill>
              <a:latin typeface="Times"/>
              <a:ea typeface="Times"/>
              <a:cs typeface="Times"/>
              <a:sym typeface="Times"/>
            </a:endParaRPr>
          </a:p>
          <a:p>
            <a:pPr marL="457200" marR="0" lvl="0" indent="-342900" algn="just" rtl="0">
              <a:lnSpc>
                <a:spcPct val="115000"/>
              </a:lnSpc>
              <a:spcBef>
                <a:spcPts val="0"/>
              </a:spcBef>
              <a:spcAft>
                <a:spcPts val="0"/>
              </a:spcAft>
              <a:buClr>
                <a:schemeClr val="dk1"/>
              </a:buClr>
              <a:buSzPts val="1800"/>
              <a:buFont typeface="Times"/>
              <a:buAutoNum type="arabicParenR" startAt="12"/>
            </a:pPr>
            <a:r>
              <a:rPr lang="en-US" sz="1800" b="0" i="0" u="none" strike="noStrike" cap="none">
                <a:solidFill>
                  <a:schemeClr val="dk1"/>
                </a:solidFill>
                <a:latin typeface="Times"/>
                <a:ea typeface="Times"/>
                <a:cs typeface="Times"/>
                <a:sym typeface="Times"/>
              </a:rPr>
              <a:t>Polireddi sireesha, “Channel Estimation for Massive MIMO Systems”,International Journal for Research in Applied Science &amp; Engineering Technology (IJRASET) ISSN: 2321-9653; IC Value: 45.98; SJ Impact Factor: 7.538  Volume 10 Issue I Jan 2022.</a:t>
            </a:r>
            <a:endParaRPr sz="1800" b="0" i="0" u="none" strike="noStrike" cap="none">
              <a:solidFill>
                <a:schemeClr val="dk1"/>
              </a:solidFill>
              <a:latin typeface="Times"/>
              <a:ea typeface="Times"/>
              <a:cs typeface="Times"/>
              <a:sym typeface="Times"/>
            </a:endParaRPr>
          </a:p>
          <a:p>
            <a:pPr marL="0" marR="0" lvl="0" indent="0" algn="l" rtl="0">
              <a:lnSpc>
                <a:spcPct val="115000"/>
              </a:lnSpc>
              <a:spcBef>
                <a:spcPts val="0"/>
              </a:spcBef>
              <a:spcAft>
                <a:spcPts val="0"/>
              </a:spcAft>
              <a:buClr>
                <a:srgbClr val="000000"/>
              </a:buClr>
              <a:buSzPts val="2100"/>
              <a:buFont typeface="Arial"/>
              <a:buNone/>
            </a:pPr>
            <a:endParaRPr sz="2100" b="0" i="0" u="none" strike="noStrike" cap="none">
              <a:solidFill>
                <a:schemeClr val="dk1"/>
              </a:solidFill>
              <a:latin typeface="Times"/>
              <a:ea typeface="Times"/>
              <a:cs typeface="Times"/>
              <a:sym typeface="Times"/>
            </a:endParaRPr>
          </a:p>
          <a:p>
            <a:pPr marL="0" marR="0" lvl="0" indent="0" algn="l" rtl="0">
              <a:lnSpc>
                <a:spcPct val="90000"/>
              </a:lnSpc>
              <a:spcBef>
                <a:spcPts val="1000"/>
              </a:spcBef>
              <a:spcAft>
                <a:spcPts val="0"/>
              </a:spcAft>
              <a:buClr>
                <a:schemeClr val="dk1"/>
              </a:buClr>
              <a:buSzPts val="2800"/>
              <a:buFont typeface="Arial"/>
              <a:buNone/>
            </a:pPr>
            <a:endParaRPr sz="2100" b="0" i="0" u="none" strike="noStrike" cap="none">
              <a:solidFill>
                <a:schemeClr val="dk1"/>
              </a:solidFill>
              <a:latin typeface="Times"/>
              <a:ea typeface="Times"/>
              <a:cs typeface="Times"/>
              <a:sym typeface="Times"/>
            </a:endParaRPr>
          </a:p>
          <a:p>
            <a:pPr marL="0" marR="0" lvl="0" indent="0" algn="l" rtl="0">
              <a:lnSpc>
                <a:spcPct val="90000"/>
              </a:lnSpc>
              <a:spcBef>
                <a:spcPts val="1000"/>
              </a:spcBef>
              <a:spcAft>
                <a:spcPts val="0"/>
              </a:spcAft>
              <a:buClr>
                <a:schemeClr val="dk1"/>
              </a:buClr>
              <a:buSzPts val="2800"/>
              <a:buFont typeface="Arial"/>
              <a:buNone/>
            </a:pPr>
            <a:endParaRPr sz="2100" b="0" i="0" u="none" strike="noStrike" cap="none">
              <a:solidFill>
                <a:srgbClr val="000000"/>
              </a:solidFill>
              <a:latin typeface="Times"/>
              <a:ea typeface="Times"/>
              <a:cs typeface="Times"/>
              <a:sym typeface="Times"/>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38"/>
        <p:cNvGrpSpPr/>
        <p:nvPr/>
      </p:nvGrpSpPr>
      <p:grpSpPr>
        <a:xfrm>
          <a:off x="0" y="0"/>
          <a:ext cx="0" cy="0"/>
          <a:chOff x="0" y="0"/>
          <a:chExt cx="0" cy="0"/>
        </a:xfrm>
      </p:grpSpPr>
      <p:sp>
        <p:nvSpPr>
          <p:cNvPr id="339" name="Google Shape;339;p17"/>
          <p:cNvSpPr txBox="1">
            <a:spLocks noGrp="1"/>
          </p:cNvSpPr>
          <p:nvPr>
            <p:ph idx="1"/>
          </p:nvPr>
        </p:nvSpPr>
        <p:spPr>
          <a:xfrm>
            <a:off x="838200" y="3051488"/>
            <a:ext cx="10515600" cy="755100"/>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chemeClr val="dk1"/>
              </a:buClr>
              <a:buSzPts val="4800"/>
              <a:buNone/>
            </a:pPr>
            <a:r>
              <a:rPr lang="en-US" sz="5900" b="1">
                <a:latin typeface="Times New Roman"/>
                <a:ea typeface="Times New Roman"/>
                <a:cs typeface="Times New Roman"/>
                <a:sym typeface="Times New Roman"/>
              </a:rPr>
              <a:t>QUERIES</a:t>
            </a:r>
            <a:endParaRPr sz="5900" b="1">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43"/>
        <p:cNvGrpSpPr/>
        <p:nvPr/>
      </p:nvGrpSpPr>
      <p:grpSpPr>
        <a:xfrm>
          <a:off x="0" y="0"/>
          <a:ext cx="0" cy="0"/>
          <a:chOff x="0" y="0"/>
          <a:chExt cx="0" cy="0"/>
        </a:xfrm>
      </p:grpSpPr>
      <p:sp>
        <p:nvSpPr>
          <p:cNvPr id="344" name="Google Shape;344;g21b5992c3e0_0_2"/>
          <p:cNvSpPr txBox="1">
            <a:spLocks noGrp="1"/>
          </p:cNvSpPr>
          <p:nvPr>
            <p:ph idx="1"/>
          </p:nvPr>
        </p:nvSpPr>
        <p:spPr>
          <a:xfrm>
            <a:off x="838200" y="2971150"/>
            <a:ext cx="10515600" cy="755100"/>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Clr>
                <a:srgbClr val="000000"/>
              </a:buClr>
              <a:buSzPts val="5300"/>
              <a:buFont typeface="Arial"/>
              <a:buNone/>
            </a:pPr>
            <a:r>
              <a:rPr lang="en-US" sz="5900" b="1">
                <a:solidFill>
                  <a:srgbClr val="000000"/>
                </a:solidFill>
                <a:latin typeface="Times New Roman"/>
                <a:ea typeface="Times New Roman"/>
                <a:cs typeface="Times New Roman"/>
                <a:sym typeface="Times New Roman"/>
              </a:rPr>
              <a:t>THANK YOU</a:t>
            </a:r>
            <a:endParaRPr sz="5900" b="1">
              <a:solidFill>
                <a:srgbClr val="000000"/>
              </a:solidFill>
              <a:latin typeface="Times New Roman"/>
              <a:ea typeface="Times New Roman"/>
              <a:cs typeface="Times New Roman"/>
              <a:sym typeface="Times New Roman"/>
            </a:endParaRPr>
          </a:p>
          <a:p>
            <a:pPr marL="0" lvl="0" indent="0" algn="ctr" rtl="0">
              <a:lnSpc>
                <a:spcPct val="90000"/>
              </a:lnSpc>
              <a:spcBef>
                <a:spcPts val="0"/>
              </a:spcBef>
              <a:spcAft>
                <a:spcPts val="0"/>
              </a:spcAft>
              <a:buClr>
                <a:schemeClr val="dk1"/>
              </a:buClr>
              <a:buSzPts val="4800"/>
              <a:buNone/>
            </a:pPr>
            <a:endParaRPr sz="3600" b="1">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11</TotalTime>
  <Words>1687</Words>
  <Application>Microsoft Office PowerPoint</Application>
  <PresentationFormat>Widescreen</PresentationFormat>
  <Paragraphs>118</Paragraphs>
  <Slides>17</Slides>
  <Notes>14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Arial</vt:lpstr>
      <vt:lpstr>STIXGeneral-Regular</vt:lpstr>
      <vt:lpstr>Calibri</vt:lpstr>
      <vt:lpstr>Times</vt:lpstr>
      <vt:lpstr>Roboto</vt:lpstr>
      <vt:lpstr>Times New Roman</vt:lpstr>
      <vt:lpstr>Office Theme</vt:lpstr>
      <vt:lpstr>Design and Implementation of Dual- Band Reconfigurable Flexible Antenna for Wireless Applications.</vt:lpstr>
      <vt:lpstr>OBJECTIVES</vt:lpstr>
      <vt:lpstr>Motivation</vt:lpstr>
      <vt:lpstr>LITERATURE SURVEY</vt:lpstr>
      <vt:lpstr>PowerPoint Presentation</vt:lpstr>
      <vt:lpstr>PowerPoint Presentation</vt:lpstr>
      <vt:lpstr>EXISTING  SYSTEM</vt:lpstr>
      <vt:lpstr>PROPOSED SYSTEM</vt:lpstr>
      <vt:lpstr>Proposed Block diagram</vt:lpstr>
      <vt:lpstr>Antenna Structure</vt:lpstr>
      <vt:lpstr>Components/Software required</vt:lpstr>
      <vt:lpstr>Scope of the project</vt:lpstr>
      <vt:lpstr>References </vt:lpstr>
      <vt:lpstr>References </vt:lpstr>
      <vt:lpstr>References </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Channel Estimation for MIMO OFDM System with EBG Structure</dc:title>
  <dc:creator>ACTIVE GALAXY</dc:creator>
  <cp:lastModifiedBy>GOPALAKRISHNAN SUBRAMANIAM</cp:lastModifiedBy>
  <cp:revision>4</cp:revision>
  <dcterms:modified xsi:type="dcterms:W3CDTF">2023-06-21T03:29:51Z</dcterms:modified>
</cp:coreProperties>
</file>